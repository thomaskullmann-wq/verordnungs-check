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  <p:sldId id="282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i30USHJelJ9uQw5QsS2PqWf2xL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B009D5-0476-4BAA-B65B-2964829B4983}">
  <a:tblStyle styleId="{C7B009D5-0476-4BAA-B65B-2964829B49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9" Type="http://customschemas.google.com/relationships/presentationmetadata" Target="metadata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43B"/>
                </a:solidFill>
                <a:latin typeface="+mn-lt"/>
              </a:defRPr>
            </a:pPr>
            <a:r>
              <a:rPr lang="de-DE" sz="1400" b="0" i="0" u="none" strike="noStrike">
                <a:solidFill>
                  <a:srgbClr val="12343B"/>
                </a:solidFill>
                <a:latin typeface="+mn-lt"/>
              </a:rPr>
              <a:t>Eingesparte Arbeitgeberkosten je Quartal in €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Jahr 1 (Anlauf)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361</c:v>
                </c:pt>
                <c:pt idx="1">
                  <c:v>722</c:v>
                </c:pt>
                <c:pt idx="2">
                  <c:v>903</c:v>
                </c:pt>
                <c:pt idx="3">
                  <c:v>1084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A8-467E-9B41-3B5F34BFF5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 Jahr 2</c:v>
                </c:pt>
              </c:strCache>
            </c:strRef>
          </c:tx>
          <c:spPr>
            <a:solidFill>
              <a:srgbClr val="12343B"/>
            </a:solidFill>
            <a:effectLst/>
          </c:spPr>
          <c:invertIfNegative val="0"/>
          <c:dLbls>
            <c:numFmt formatCode="#,##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D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1084</c:v>
                </c:pt>
                <c:pt idx="5">
                  <c:v>1084</c:v>
                </c:pt>
                <c:pt idx="6">
                  <c:v>1084</c:v>
                </c:pt>
                <c:pt idx="7">
                  <c:v>1084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A8-467E-9B41-3B5F34BFF5A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E6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C6B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30 Sekunden.</a:t>
            </a:r>
            <a:br>
              <a:rPr lang="en-US"/>
            </a:br>
            <a:r>
              <a:rPr lang="en-US"/>
              <a:t>Begrüßung, Team vorstellen. Thema in einem Satz: Wir prüfen ärztliche Heilmittelverordnungen mit KI, bevor die Behandlung beginnt, damit die Rezeption weniger Zeit mit Verwaltung verbringt.</a:t>
            </a:r>
            <a:br>
              <a:rPr lang="en-US"/>
            </a:br>
            <a:r>
              <a:rPr lang="en-US"/>
              <a:t>Hinweis: Die Praxis ist anonymisiert, alle Testdaten sind synthetisch.</a:t>
            </a:r>
            <a:endParaRPr/>
          </a:p>
        </p:txBody>
      </p:sp>
      <p:sp>
        <p:nvSpPr>
          <p:cNvPr id="26" name="Google Shape;2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 min.</a:t>
            </a:r>
            <a:br>
              <a:rPr lang="en-US"/>
            </a:br>
            <a:r>
              <a:rPr lang="en-US"/>
              <a:t>Wer präsentiert was. Die Reihenfolge folgt den IHK-Kriterien: Ist/Soll und Einsatzfelder, dann Tool-Vergleich und Tool-Auswahl, dann Einsatzplanung und Erfolgsmessung, am Ende Reflexion.</a:t>
            </a:r>
            <a:br>
              <a:rPr lang="en-US"/>
            </a:br>
            <a:r>
              <a:rPr lang="en-US"/>
              <a:t>Roter Faden: weniger Verwaltung, mehr Zeit für Patienten.</a:t>
            </a: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1,5 min (IHK: Ist/Soll, Rahmenbedingungen).</a:t>
            </a:r>
            <a:br>
              <a:rPr lang="en-US"/>
            </a:br>
            <a:r>
              <a:rPr lang="en-US"/>
              <a:t>Rahmenbedingungen nach IHK-Leitfaden: Branche, Größe, Standorte, Relevanz von KI.</a:t>
            </a:r>
            <a:br>
              <a:rPr lang="en-US"/>
            </a:br>
            <a:r>
              <a:rPr lang="en-US"/>
              <a:t>Zwei Praxen: In der einen werden gesetzlich Versicherte behandelt, in der anderen Privatpatienten. Die Terminvergabe ist zentral – das greife ich bei den Einsatzfeldern wieder auf.</a:t>
            </a:r>
            <a:br>
              <a:rPr lang="en-US"/>
            </a:br>
            <a:r>
              <a:rPr lang="en-US"/>
              <a:t>Rechts das Formular, um das es geht: Muster 13. Jede Kassenverordnung kommt so an, und die Rezeption prüft jedes Feld, bevor behandelt wird. Die Regeln dafür sind öffentlich – das ist später unser Vorteil für die Wissensbasis.</a:t>
            </a:r>
            <a:br>
              <a:rPr lang="en-US"/>
            </a:br>
            <a:r>
              <a:rPr lang="en-US"/>
              <a:t>KI setzt die Praxis bisher nirgends ein.</a:t>
            </a:r>
            <a:endParaRPr/>
          </a:p>
        </p:txBody>
      </p:sp>
      <p:sp>
        <p:nvSpPr>
          <p:cNvPr id="73" name="Google Shape;7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 min (IHK: Ist/Soll, Ist-Analyse).</a:t>
            </a:r>
            <a:br>
              <a:rPr lang="en-US"/>
            </a:br>
            <a:r>
              <a:rPr lang="en-US"/>
              <a:t>Unsere Zahlen sind nicht geschätzt, sondern erfragt: eine Stunde Interview mit der Mitinhaberin, Fragebogen mit 13 Fragen, die wichtigsten zuerst.</a:t>
            </a:r>
            <a:br>
              <a:rPr lang="en-US"/>
            </a:br>
            <a:r>
              <a:rPr lang="en-US"/>
              <a:t>Links die erste Seite im Original, rechts der Nachtrag: Die Frage nach der bisherigen KI-Nutzung hatten wir im ersten Bogen nicht. Wir haben sie nachgeholt und als eigenen Nachtrag dokumentiert, statt das Original zu ändern.</a:t>
            </a:r>
            <a:br>
              <a:rPr lang="en-US"/>
            </a:br>
            <a:r>
              <a:rPr lang="en-US"/>
              <a:t>Ergebnis: keine KI in der Praxis. Das ist kein Ausreißer – laut Destatis nutzte 2024 nur jedes fünfte Unternehmen KI, bei kleinen Unternehmen sind es laut IW gut ein Drittel.</a:t>
            </a:r>
            <a:endParaRPr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2 min (IHK: Ist/Soll).</a:t>
            </a:r>
            <a:br>
              <a:rPr lang="en-US"/>
            </a:br>
            <a:r>
              <a:rPr lang="en-US"/>
              <a:t>Ablauf heute: Die Rezeption prüft bei der Annahme (im Schnitt 6 min) und noch einmal vor der Abrechnung (ca. 2 min). Bei ca. 40 neuen Kassenverordnungen pro Woche sind das ca. 5,3 Stunden pro Woche.</a:t>
            </a:r>
            <a:br>
              <a:rPr lang="en-US"/>
            </a:br>
            <a:r>
              <a:rPr lang="en-US"/>
              <a:t>Kernaussage: 90 % der Fehler entstehen bei Doppel- und Folgeverordnungen. Die Praxissoftware zeigt nicht, wie viele Einheiten ein Patient beim selben Arzt schon hatte. Menschliche Doppelkontrollen sind höchstens ca. 85 % wirksam.</a:t>
            </a:r>
            <a:br>
              <a:rPr lang="en-US"/>
            </a:br>
            <a:r>
              <a:rPr lang="en-US"/>
              <a:t>Absetzungen: nur ca. 10 Fälle bzw. ca. 500 € pro Jahr. Der Hebel ist also die Prüfzeit, nicht die Absetzung.</a:t>
            </a: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2,25 min (IHK: Einsatzfelder im Unternehmen).</a:t>
            </a:r>
            <a:br>
              <a:rPr lang="en-US"/>
            </a:br>
            <a:r>
              <a:rPr lang="en-US"/>
              <a:t>Bereiche Rezeption, Therapie und Verwaltung an beiden Standorten durchgegangen und jedes Einsatzfeld nach Nutzen und Machbarkeit eingeordnet.</a:t>
            </a:r>
            <a:br>
              <a:rPr lang="en-US"/>
            </a:br>
            <a:r>
              <a:rPr lang="en-US"/>
              <a:t>Terminvergabe hat hohen Nutzen, braucht aber eine Schnittstelle zur Praxissoftware. Abrechnung liegt beim Dienstleister. Therapieberichte enthalten Gesundheitsdaten im Freitext – höheres Risiko.</a:t>
            </a:r>
            <a:br>
              <a:rPr lang="en-US"/>
            </a:br>
            <a:r>
              <a:rPr lang="en-US"/>
              <a:t>Privatpraxis: Den Verordnungs-Check kann man dort nicht einfach übertragen. Für Privatpatienten gibt es kein Muster 13, keine Fristen und keine Höchstmengen. Das Risiko liegt woanders: Der Patient bleibt auf der Differenz zwischen Rechnung und Erstattung sitzen. Dafür passt ein Erstattungshinweis vor Behandlungsbeginn – ein Hinweis, keine Zusage.</a:t>
            </a:r>
            <a:br>
              <a:rPr lang="en-US"/>
            </a:br>
            <a:r>
              <a:rPr lang="en-US"/>
              <a:t>Die zentrale Terminvergabe ist die Weiche zwischen beiden.</a:t>
            </a:r>
            <a:br>
              <a:rPr lang="en-US"/>
            </a:br>
            <a:r>
              <a:rPr lang="en-US"/>
              <a:t>Begründung für den Pilot: größtes Problem, öffentliche Regeln, keine Schnittstelle, geringes Risiko, messbar.</a:t>
            </a:r>
            <a:endParaRPr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1,5 min (IHK: Ist/Soll, Ziele und Erfolgsindikatoren).</a:t>
            </a:r>
            <a:br>
              <a:rPr lang="en-US"/>
            </a:br>
            <a:r>
              <a:rPr lang="en-US"/>
              <a:t>Soll: Die KI prüft vor Behandlungsbeginn, zeigt eine Ampel mit Fundstelle, die Rezeption entscheidet.</a:t>
            </a:r>
            <a:br>
              <a:rPr lang="en-US"/>
            </a:br>
            <a:r>
              <a:rPr lang="en-US"/>
              <a:t>Der IHK-Leitfaden verlangt konkrete Erfolgsindikatoren als späteren Kontrollmaßstab. Die vier Ziele hier greift Derk in der Erfolgsmessung wieder auf.</a:t>
            </a:r>
            <a:br>
              <a:rPr lang="en-US"/>
            </a:br>
            <a:r>
              <a:rPr lang="en-US"/>
              <a:t>Wichtig: Die Schlussprüfung fällt erst weg, wenn der Parallelbetrieb bestanden ist.</a:t>
            </a:r>
            <a:endParaRPr/>
          </a:p>
        </p:txBody>
      </p:sp>
      <p:sp>
        <p:nvSpPr>
          <p:cNvPr id="232" name="Google Shape;23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 min (IHK: Ist/Soll).</a:t>
            </a:r>
            <a:br>
              <a:rPr lang="en-US"/>
            </a:br>
            <a:r>
              <a:rPr lang="en-US"/>
              <a:t>Jede Zahl hat eine Herkunft: gemessen im Interview oder als Annahme gekennzeichnet.</a:t>
            </a:r>
            <a:br>
              <a:rPr lang="en-US"/>
            </a:br>
            <a:r>
              <a:rPr lang="en-US"/>
              <a:t>Drei Punkte zur Einordnung: keine Doppelzählung, vermeiden statt ersetzen, Betriebskosten werden gegengerechnet – die KI-Kosten selbst sind klein, das zeigt Valentin gleich im Tool-Vergleich.</a:t>
            </a:r>
            <a:br>
              <a:rPr lang="en-US"/>
            </a:br>
            <a:r>
              <a:rPr lang="en-US"/>
              <a:t>Übergabe an Valentin: Mit welchen Werkzeugen erreichen wir das?</a:t>
            </a:r>
            <a:endParaRPr/>
          </a:p>
        </p:txBody>
      </p:sp>
      <p:sp>
        <p:nvSpPr>
          <p:cNvPr id="284" name="Google Shape;28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1,5 min (IHK: Ist/Soll, Nutzen).</a:t>
            </a:r>
            <a:br>
              <a:rPr lang="en-US"/>
            </a:br>
            <a:r>
              <a:rPr lang="en-US"/>
              <a:t>Im ersten Jahr steigt die Ersparnis von 25 % auf 75 % der Prüfzeit, ab dem zweiten Jahr bleibt sie bei 75 %.</a:t>
            </a:r>
            <a:br>
              <a:rPr lang="en-US"/>
            </a:br>
            <a:r>
              <a:rPr lang="en-US"/>
              <a:t>Ergebnis: ca. 3.070 € im ersten Jahr, ca. 4.300 € pro Jahr ab dem zweiten Jahr. Das sind rund 4 Stunden pro Woche, also etwa ein halber Minijob.</a:t>
            </a:r>
            <a:br>
              <a:rPr lang="en-US"/>
            </a:br>
            <a:r>
              <a:rPr lang="en-US"/>
              <a:t>Wichtig: Der Hebel ist die Zeit, nicht die Absetzungen.</a:t>
            </a:r>
            <a:endParaRPr/>
          </a:p>
        </p:txBody>
      </p:sp>
      <p:sp>
        <p:nvSpPr>
          <p:cNvPr id="262" name="Google Shape;26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 min (IHK: Tool-Vergleich).</a:t>
            </a:r>
            <a:br>
              <a:rPr lang="en-US"/>
            </a:br>
            <a:r>
              <a:rPr lang="en-US"/>
              <a:t>Wir sind schrittweise vorgegangen, wie es der IHK-Leitfaden verlangt: Anforderungen, Kriterien, Vorauswahl, Praxistest, Fazit.</a:t>
            </a:r>
            <a:br>
              <a:rPr lang="en-US"/>
            </a:br>
            <a:r>
              <a:rPr lang="en-US"/>
              <a:t>Jede Anforderung kommt aus Thomas' Ist/Soll und ist einem der fünf IHK-Kriterien zugeordnet. Auf den nächsten Folien vergleichen wir dort, wo wir wirklich entschieden haben: Orchestrierung, Sprachmodell, Wissensbasis, Eingabekanal.</a:t>
            </a:r>
            <a:endParaRPr/>
          </a:p>
        </p:txBody>
      </p:sp>
      <p:sp>
        <p:nvSpPr>
          <p:cNvPr id="299" name="Google Shape;29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1,25 min (IHK: Tool-Vergleich).</a:t>
            </a:r>
            <a:br>
              <a:rPr lang="en-US"/>
            </a:br>
            <a:r>
              <a:rPr lang="en-US"/>
              <a:t>Offen ansprechen: n8n ist im Capstone vorgegeben. Wir haben es trotzdem bewertet.</a:t>
            </a:r>
            <a:br>
              <a:rPr lang="en-US"/>
            </a:br>
            <a:r>
              <a:rPr lang="en-US"/>
              <a:t>Entscheidend war: Sprachmodell, Vektorsuche, eigene Rechenlogik und Datenbank in einem Werkzeug. Copilot Studio kennen wir, aber die Rechenlogik und Supabase sind dort umständlicher.</a:t>
            </a:r>
            <a:br>
              <a:rPr lang="en-US"/>
            </a:br>
            <a:r>
              <a:rPr lang="en-US"/>
              <a:t>Eine reine Regel-Engine scheidet aus, weil die Eingabe Freitext ist und die Regeln in PDFs stehen.</a:t>
            </a:r>
            <a:endParaRPr/>
          </a:p>
        </p:txBody>
      </p:sp>
      <p:sp>
        <p:nvSpPr>
          <p:cNvPr id="339" name="Google Shape;33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1,25 min (IHK: Tool-Vergleich).</a:t>
            </a:r>
            <a:br>
              <a:rPr lang="en-US"/>
            </a:br>
            <a:r>
              <a:rPr lang="en-US"/>
              <a:t>Warum das kleine Modell: Die harte Logik rechnet der Code. Das Modell muss lesen, suchen und formulieren – dafür reicht mini. Größere Modelle hätten unseren wichtigsten Fehler nicht gelöst; das hat erst Code geschafft.</a:t>
            </a:r>
            <a:br>
              <a:rPr lang="en-US"/>
            </a:br>
            <a:r>
              <a:rPr lang="en-US"/>
              <a:t>EU-Hosting ist für den Echtbetrieb wichtig, im Prototyp arbeiten wir nur mit synthetischen Daten.</a:t>
            </a:r>
            <a:br>
              <a:rPr lang="en-US"/>
            </a:br>
            <a:r>
              <a:rPr lang="en-US"/>
              <a:t>Embeddings: Beim Zusammenführen mit meinem Formular-Stand haben wir gelernt, dass das Embedding-Modell zur geladenen Wissensbasis passen muss. Das Chat-Modell haben wir vereinheitlicht, damit die Evaluation vergleichbar bleibt – eine bewusste Entscheidung, keine technische Notwendigkeit.</a:t>
            </a:r>
            <a:endParaRPr/>
          </a:p>
        </p:txBody>
      </p:sp>
      <p:sp>
        <p:nvSpPr>
          <p:cNvPr id="351" name="Google Shape;35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 min (IHK: Tool-Vergleich).</a:t>
            </a:r>
            <a:br>
              <a:rPr lang="en-US"/>
            </a:br>
            <a:r>
              <a:rPr lang="en-US"/>
              <a:t>Kernargument für RAG: Die Rezeption muss jeden Befund nachvollziehen können. Mit RAG nennt jeder Befund seine Fundstelle. Und wenn die KBV ihre Liste zum Jahreswechsel ändert, laden wir neu – kein Training.</a:t>
            </a:r>
            <a:br>
              <a:rPr lang="en-US"/>
            </a:br>
            <a:r>
              <a:rPr lang="en-US"/>
              <a:t>Supabase, weil wir ohnehin eine Datenbank für das Protokoll brauchen; die Vektorsuche ist dort eingebaut, und die Daten liegen in Frankfurt.</a:t>
            </a:r>
            <a:br>
              <a:rPr lang="en-US"/>
            </a:br>
            <a:r>
              <a:rPr lang="en-US"/>
              <a:t>Was genau in der Wissensbasis steckt, zeige ich auf der nächsten Folie.</a:t>
            </a:r>
            <a:endParaRPr/>
          </a:p>
        </p:txBody>
      </p:sp>
      <p:sp>
        <p:nvSpPr>
          <p:cNvPr id="368" name="Google Shape;36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 min (IHK: Tool-Vergleich, Tool-Auswahl).</a:t>
            </a:r>
            <a:br>
              <a:rPr lang="en-US"/>
            </a:br>
            <a:r>
              <a:rPr lang="en-US"/>
              <a:t>So sehen unsere Quellen im Original aus. Alle drei sind frei zugänglich – deshalb können wir jeden Befund mit Fundstelle belegen.</a:t>
            </a:r>
            <a:br>
              <a:rPr lang="en-US"/>
            </a:br>
            <a:r>
              <a:rPr lang="en-US"/>
              <a:t>Die Suche liefert die passende Stelle, aber was als Regel feststeht, rechnet der Code: Fristen aus der Richtlinie, Höchstmenge und Leitsymptomatik aus dem Katalog.</a:t>
            </a:r>
            <a:br>
              <a:rPr lang="en-US"/>
            </a:br>
            <a:r>
              <a:rPr lang="en-US"/>
              <a:t>Rechts die ehrliche Grenze: Die KBV-Liste ist eine Tabelle mit zwei Codes und Spalten je Fachbereich. Das Modell findet den Eintrag, wertet ihn aber nicht zuverlässig aus. Deshalb gehört auch diese Liste in den Code.</a:t>
            </a:r>
            <a:endParaRPr/>
          </a:p>
        </p:txBody>
      </p:sp>
      <p:sp>
        <p:nvSpPr>
          <p:cNvPr id="385" name="Google Shape;38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1,25 min (IHK: Tool-Vergleich, Fazit).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Rechts, woraus die Kosten bestehen: Die KI kostet je nach Kanal nur 70 bis 142 € im Jahr, die Plattform 520 €, für alle Kanäle gleich. Der größte Posten ist die Eingabezeit der Rezeption: 218 € beim Scan bis 1.454 € beim Abtippen im Chat.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Deshalb steht in der Tabelle je Kanal ein eigener Betrag: von 823 € (Scan) bis 2.054 € (Chat).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 haben bewusst nicht den günstigsten Kanal gewählt, sondern das Formular: keine Lesefehler, und die Patientendaten werden ersetzt, bevor das Modell sie sieht. Qualität und Datenschutz gehen vor rund 700 € im Jahr. Foto und Scan sind der nächste Schritt; eine Foto- und Scan-Variante läuft als Prototyp, liest aber Ankreuzfelder noch oft falsch und war nicht in der Testbatterie.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Fazit Tool-Vergleich: n8n, gpt-4.1-mini, Supabase mit RAG, Formular plus Chat.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Falls gefragt: Die Eingabezeiten sind Annahmen und werden im Pilot gemessen. Einmalige Einrichtung ist nicht enthalten.</a:t>
            </a:r>
            <a:endParaRPr/>
          </a:p>
        </p:txBody>
      </p:sp>
      <p:sp>
        <p:nvSpPr>
          <p:cNvPr id="417" name="Google Shape;41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VALENTIN · ca. 1,25 min (IHK: Tool-Auswahl und Einsatzplanung).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 Ablauf in fünf Schritten. Die dunklen Kästen sind Code: Fakten berechnen und Ampel bilden. Die hellen nutzen das Sprachmodell.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 Leitsatz ist kein Dogma, sondern Ergebnis unserer Tests – das zeige ich auf der nächsten Folie.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PII-Reduktion, also Reduktion personenbezogener Daten (Architekturhinweis): Läuft die Eingabe über den Chat, geht der Text zuerst durch das NER-Modell bert-base-multilingual-cased-ner-hrl plus Regeln. Bei der Formular-Eingabe geht es regelbasiert weiter, Feld für Feld. Im Cloud-Prototyp greifen im Chat heute nur die Regeln, das Modell läuft lokal – echte Daten gehören deshalb nur in das Formular.</a:t>
            </a:r>
            <a:endParaRPr/>
          </a:p>
        </p:txBody>
      </p:sp>
      <p:sp>
        <p:nvSpPr>
          <p:cNvPr id="439" name="Google Shape;43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5" name="Google Shape;49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1,5 min (IHK: Tool-Auswahl).</a:t>
            </a:r>
            <a:br>
              <a:rPr lang="en-US"/>
            </a:br>
            <a:r>
              <a:rPr lang="en-US"/>
              <a:t>Das ist unsere wichtigste Architekturentscheidung. Jede Zeile hat einen Beleg aus unseren Tests.</a:t>
            </a:r>
            <a:br>
              <a:rPr lang="en-US"/>
            </a:br>
            <a:r>
              <a:rPr lang="en-US"/>
              <a:t>Besonders eindrücklich: Das Modell hat einen Knie-Code der Wirbelsäule zugeordnet – mit Fundstelle und plausibler Begründung. Für die Rezeption ist so ein Fehler kaum zu erkennen.</a:t>
            </a:r>
            <a:br>
              <a:rPr lang="en-US"/>
            </a:br>
            <a:r>
              <a:rPr lang="en-US"/>
              <a:t>Das Muster hat sich am 23.10. wiederholt: bei der Leitsymptomatik. Deshalb steht auch diese Regel jetzt im Code.</a:t>
            </a:r>
            <a:br>
              <a:rPr lang="en-US"/>
            </a:br>
            <a:r>
              <a:rPr lang="en-US"/>
              <a:t>Ergebnis: kritische Fehlalarme von 12 auf 0.</a:t>
            </a:r>
            <a:endParaRPr/>
          </a:p>
        </p:txBody>
      </p:sp>
      <p:sp>
        <p:nvSpPr>
          <p:cNvPr id="496" name="Google Shape;49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VALENTIN · ca. 1,25 min (IHK: Tool-Auswahl und Einsatzplanung).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 übrigen Entscheidungen jeweils mit Alternative.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Hervorheben: Patientendaten ersetzen wir, bevor das Modell sie sieht – das ist auch der Übergang zur Governance.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Und: Der Mensch entscheidet. Das ist nicht nur fachlich richtig, sondern auch für die rechtliche Einordnung wichtig.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Zur PII-Reduktion: Chat über NER-Modell (bert-base-multilingual-cased-ner-hrl) plus Regeln, Formular rein regelbasiert (Folie 16).</a:t>
            </a:r>
            <a:endParaRPr/>
          </a:p>
        </p:txBody>
      </p:sp>
      <p:sp>
        <p:nvSpPr>
          <p:cNvPr id="510" name="Google Shape;51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2 min (IHK: Tool-Auswahl und Einsatzplanung, rechtliche Rahmenbedingungen).</a:t>
            </a:r>
            <a:br>
              <a:rPr lang="en-US"/>
            </a:br>
            <a:r>
              <a:rPr lang="en-US"/>
              <a:t>Wir prüfen in vier Schritten nach der KI-Verordnung (EU) 2024/1689.</a:t>
            </a:r>
            <a:br>
              <a:rPr lang="en-US"/>
            </a:br>
            <a:r>
              <a:rPr lang="en-US"/>
              <a:t>1. Ja, es ist ein KI-System. Wir als Entwickler sind Anbieter, die Praxis Betreiberin.</a:t>
            </a:r>
            <a:br>
              <a:rPr lang="en-US"/>
            </a:br>
            <a:r>
              <a:rPr lang="en-US"/>
              <a:t>2. Keine verbotene Praxis nach Art. 5.</a:t>
            </a:r>
            <a:br>
              <a:rPr lang="en-US"/>
            </a:br>
            <a:r>
              <a:rPr lang="en-US"/>
              <a:t>3. Hochrisiko über Produktrecht nur, wenn es ein Medizinprodukt wäre. Unsere Zweckbestimmung ist administrativ: formale Gültigkeit für die Abrechnung. Keine Diagnose, keine Therapieempfehlung. Laut MDCG-Leitlinie 2019-11 ist Abrechnungs- und Verwaltungssoftware in der Regel kein Medizinprodukt.</a:t>
            </a:r>
            <a:br>
              <a:rPr lang="en-US"/>
            </a:br>
            <a:r>
              <a:rPr lang="en-US"/>
              <a:t>4. Anhang III Nr. 5 a klingt ähnlich, trifft aber nicht: Er gilt für Behörden oder Stellen in deren Namen, die über Ansprüche auf öffentliche Leistungen entscheiden. Wir sind eine private Praxis und prüfen ein Dokument; die Kasse entscheidet.</a:t>
            </a:r>
            <a:br>
              <a:rPr lang="en-US"/>
            </a:br>
            <a:r>
              <a:rPr lang="en-US"/>
              <a:t>Wichtig: Die Einordnung hängt an der Zweckbestimmung. Würde das System später Therapie vorschlagen oder für eine Kasse Leistungen bewilligen, müssten wir neu prüfen.</a:t>
            </a:r>
            <a:br>
              <a:rPr lang="en-US"/>
            </a:br>
            <a:r>
              <a:rPr lang="en-US"/>
              <a:t>Falls gefragt: Hochrisiko-Pflichten gelten nach dem KI-Omnibus (VO (EU) 2026/1744) ohnehin erst ab 02.12.2027 (Anhang III) bzw. 02.08.2028 (Anhang I).</a:t>
            </a:r>
            <a:endParaRPr/>
          </a:p>
        </p:txBody>
      </p:sp>
      <p:sp>
        <p:nvSpPr>
          <p:cNvPr id="522" name="Google Shape;52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5" name="Google Shape;56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VALENTIN · ca. 1 min (IHK: rechtliche Rahmenbedingungen).</a:t>
            </a:r>
            <a:br>
              <a:rPr lang="en-US"/>
            </a:br>
            <a:r>
              <a:rPr lang="en-US"/>
              <a:t>Kein Hochrisiko heißt nicht pflichtfrei.</a:t>
            </a:r>
            <a:br>
              <a:rPr lang="en-US"/>
            </a:br>
            <a:r>
              <a:rPr lang="en-US"/>
              <a:t>Art. 4 KI-Kompetenz gilt seit Februar 2025. Durch den KI-Omnibus ist es seit Juli 2026 eine Förderpflicht: Maßnahmen ergreifen statt Kompetenz garantieren. Wir setzen das mit einer dokumentierten Einweisung um.</a:t>
            </a:r>
            <a:br>
              <a:rPr lang="en-US"/>
            </a:br>
            <a:r>
              <a:rPr lang="en-US"/>
              <a:t>Art. 50 Abs. 1 Transparenz gilt seit 2. August 2026 – bei uns ohnehin offensichtlich, wir kennzeichnen trotzdem.</a:t>
            </a:r>
            <a:br>
              <a:rPr lang="en-US"/>
            </a:br>
            <a:r>
              <a:rPr lang="en-US"/>
              <a:t>Die Hochrisiko-Pflichten wie menschliche Aufsicht und Protokollierung übernehmen wir freiwillig.</a:t>
            </a:r>
            <a:br>
              <a:rPr lang="en-US"/>
            </a:br>
            <a:r>
              <a:rPr lang="en-US"/>
              <a:t>Die Pflichten für das Basismodell trägt OpenAI.</a:t>
            </a:r>
            <a:endParaRPr/>
          </a:p>
        </p:txBody>
      </p:sp>
      <p:sp>
        <p:nvSpPr>
          <p:cNvPr id="566" name="Google Shape;56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VALENTIN · ca. 1,5 min (IHK: rechtliche Rahmenbedingungen).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Verordnungen sind Gesundheitsdaten nach Art. 9 DSGVO.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 Prototyp verarbeiten wir nur synthetische Daten – damit fallen keine personenbezogenen Daten an.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Für den Echtbetrieb ist die Rechtsgrundlage Art. 9 Abs. 2 lit. h mit § 22 BDSG – die gleiche Grundlage, auf der die Praxis heute schon Verordnungen verarbeitet.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Zusätzlich zum Datenschutz gilt das Berufsgeheimnis nach § 203 StGB: Unsere Dienstleister sind mitwirkende Personen und müssen zur Verschwiegenheit verpflichtet werden.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Offen vor Echtbetrieb: Datenschutz-Folgenabschätzung, OpenAI mit EU-Datenresidenz oder Data Privacy Framework.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Übergabe an Derk: Wie gut funktioniert das heute?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Datenminimierung technisch: Im Chat erkennt das NER-Modell Namen auch ohne Rollenwort, ergänzt um Regeln; im Formular ersetzen Regeln die Felder deterministisch. In der Cloud läuft im Chat bisher nur der Regelteil (Folie 16).</a:t>
            </a:r>
            <a:endParaRPr/>
          </a:p>
        </p:txBody>
      </p:sp>
      <p:sp>
        <p:nvSpPr>
          <p:cNvPr id="580" name="Google Shape;58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1" name="Google Shape;59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DERK · ca. 1 min (IHK: Einsatzplanung, Prototyp als Anwendungsbeispiel).</a:t>
            </a:r>
          </a:p>
          <a:p>
            <a:r>
              <a:t>Bedienung: Ein Klick auf das Video startet es (ca. 20 s, Zeitraffer ×3 bei den vier Prüfern). Backup: Datei n8n_Workflow_Lauf_2026-10-29.mp4.</a:t>
            </a:r>
          </a:p>
          <a:p>
            <a:r>
              <a:t>Das ist der Workflow so, wie er in der n8n Cloud läuft; das Video zeigt einen echten Lauf mit dem grünen Beispielfall. Der rote Rahmen markiert den Knoten, der gerade arbeitet.</a:t>
            </a:r>
          </a:p>
          <a:p>
            <a:r>
              <a:t>Erst rechnet der Code die Fakten und entfernt personenbezogene Daten (unter 0,2 s), dann prüfen die vier Prüfer nacheinander, ganz rechts steht die Ampel.</a:t>
            </a:r>
          </a:p>
          <a:p>
            <a:r>
              <a:t>Echte Laufzeit: 38,5 s. Merkpunkt: Was sich als Regel aufschreiben lässt, rechnet der Code. Das Sprachmodell formuliert und sucht im Regelwerk.</a:t>
            </a:r>
          </a:p>
        </p:txBody>
      </p:sp>
      <p:sp>
        <p:nvSpPr>
          <p:cNvPr id="592" name="Google Shape;59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1,5 min (IHK: Einsatzplanung, Prototyp als Anwendungsbeispiel).</a:t>
            </a:r>
            <a:br>
              <a:rPr lang="en-US"/>
            </a:br>
            <a:r>
              <a:rPr lang="en-US"/>
              <a:t>Alle vier Prüfer folgen demselben Bauplan: Eingabe, Agent, Ausgabe. Das macht sie einzeln testbar.</a:t>
            </a:r>
            <a:br>
              <a:rPr lang="en-US"/>
            </a:br>
            <a:r>
              <a:rPr lang="en-US"/>
              <a:t>Wichtig: Die berechneten Fakten aus dem Code sind für die Prüfer verbindlich. So kann das Modell nicht gegen die Rechnung argumentieren.</a:t>
            </a:r>
            <a:br>
              <a:rPr lang="en-US"/>
            </a:br>
            <a:r>
              <a:rPr lang="en-US"/>
              <a:t>Jeder Befund hat eine Fundstelle – sonst darf er höchstens ein Hinweis sein.</a:t>
            </a:r>
            <a:endParaRPr/>
          </a:p>
        </p:txBody>
      </p:sp>
      <p:sp>
        <p:nvSpPr>
          <p:cNvPr id="609" name="Google Shape;60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2 min (IHK: Einsatzplanung).</a:t>
            </a:r>
            <a:br>
              <a:rPr lang="en-US"/>
            </a:br>
            <a:r>
              <a:rPr lang="en-US"/>
              <a:t>Je Prüfer: Mandat, welche Fakten er vom Code bekommt, und ein Beispiel aus den Tests.</a:t>
            </a:r>
            <a:br>
              <a:rPr lang="en-US"/>
            </a:br>
            <a:r>
              <a:rPr lang="en-US"/>
              <a:t>Der wichtigste Ausbau ist die Verordnungsfall-Prüfung: Sie deckt die Folgeverordnungen ab, und dort entstehen laut Field Study 90 % der Fehler.</a:t>
            </a:r>
            <a:endParaRPr/>
          </a:p>
        </p:txBody>
      </p:sp>
      <p:sp>
        <p:nvSpPr>
          <p:cNvPr id="644" name="Google Shape;64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6" name="Google Shape;65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3 min (IHK: Prototyp als Anwendungsbeispiel).</a:t>
            </a:r>
            <a:br>
              <a:rPr lang="en-US"/>
            </a:br>
            <a:r>
              <a:rPr lang="en-US"/>
              <a:t>Live-Demo im Cloud-Workflow („Verordnungcheck_gemerged“) über das Formular. Ablauf: Formular ausfüllen, absenden, Ergebnis zeigen, kurz das Protokoll in Supabase.</a:t>
            </a:r>
            <a:br>
              <a:rPr lang="en-US"/>
            </a:br>
            <a:r>
              <a:rPr lang="en-US"/>
              <a:t>Zwei Fälle: ein grüner und ein roter. Beim roten den Korrekturhinweis und die Fundstelle vorlesen.</a:t>
            </a:r>
            <a:br>
              <a:rPr lang="en-US"/>
            </a:br>
            <a:r>
              <a:rPr lang="en-US"/>
              <a:t>Vorher: Workflow nur mit aktiver Anmeldung freischalten, Testlauf am Morgen. Backup-Video vorher im Tab öffnen, Screenshots als zweiten Rückfall bereithalten.</a:t>
            </a:r>
            <a:endParaRPr/>
          </a:p>
        </p:txBody>
      </p:sp>
      <p:sp>
        <p:nvSpPr>
          <p:cNvPr id="657" name="Google Shape;65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1,5 min (IHK: Erfolgsmessung).</a:t>
            </a:r>
            <a:br>
              <a:rPr lang="en-US"/>
            </a:br>
            <a:r>
              <a:rPr lang="en-US"/>
              <a:t>100 neue Fälle, aufgeteilt in ein Evaluationsset, das wir nie zum Nachbessern anschauen, und ein Entwicklungsset.</a:t>
            </a:r>
            <a:br>
              <a:rPr lang="en-US"/>
            </a:br>
            <a:r>
              <a:rPr lang="en-US"/>
              <a:t>Das Evaluationsset erfüllt alle Vorgaben: genug grüne, gelbe, rote und Grenzfälle, je Prüfer mindestens fünf rote.</a:t>
            </a:r>
            <a:br>
              <a:rPr lang="en-US"/>
            </a:br>
            <a:r>
              <a:rPr lang="en-US"/>
              <a:t>Wichtig: Wir lernen nicht auf den Test – keine Codes aus den Testfällen im Prompt.</a:t>
            </a:r>
            <a:br>
              <a:rPr lang="en-US"/>
            </a:br>
            <a:r>
              <a:rPr lang="en-US"/>
              <a:t>Die Ergebnisse der formalen Evaluation vom 27.10. stehen auf der vorigen Folie.</a:t>
            </a:r>
            <a:endParaRPr/>
          </a:p>
        </p:txBody>
      </p:sp>
      <p:sp>
        <p:nvSpPr>
          <p:cNvPr id="731" name="Google Shape;73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1" name="Google Shape;71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1,5 min (IHK: Erfolgsmessung).</a:t>
            </a:r>
            <a:br>
              <a:rPr lang="en-US"/>
            </a:br>
            <a:r>
              <a:rPr lang="en-US"/>
              <a:t>Zielwert: mindestens 98 % richtige Ampeln auf mindestens 50 neuen Fällen, jeder Fall dreimal. Höchstens ein Fehler.</a:t>
            </a:r>
            <a:br>
              <a:rPr lang="en-US"/>
            </a:br>
            <a:r>
              <a:rPr lang="en-US"/>
              <a:t>Die harten Bedingungen: kein übersehener roter Fall, höchstens ein kritischer Fehlalarm. Begründung: Ein übersehener Fehler kostet Geld, zu viele Fehlalarme zerstören das Vertrauen.</a:t>
            </a:r>
            <a:br>
              <a:rPr lang="en-US"/>
            </a:br>
            <a:r>
              <a:rPr lang="en-US"/>
              <a:t>Referenzstandard sind ausschließlich die Regelwerke, nicht die Meinung des Teams.</a:t>
            </a:r>
            <a:endParaRPr/>
          </a:p>
        </p:txBody>
      </p:sp>
      <p:sp>
        <p:nvSpPr>
          <p:cNvPr id="712" name="Google Shape;71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2 min (IHK: Einsatzplanung).</a:t>
            </a:r>
            <a:br>
              <a:rPr lang="en-US"/>
            </a:br>
            <a:r>
              <a:rPr lang="en-US"/>
              <a:t>Vier Phasen. In der Vorbereitung setzen wir um, was Valentin rechtlich gezeigt hat: Anmeldung, Auftragsverarbeitung, Einweisung.</a:t>
            </a:r>
            <a:br>
              <a:rPr lang="en-US"/>
            </a:br>
            <a:r>
              <a:rPr lang="en-US"/>
              <a:t>Sechs Wochen Parallelbetrieb: Die Rezeption prüft wie bisher, das System läuft mit. Erst bei mindestens 98 % Übereinstimmung und keinem übersehenen roten Fall geht es weiter.</a:t>
            </a:r>
            <a:br>
              <a:rPr lang="en-US"/>
            </a:br>
            <a:r>
              <a:rPr lang="en-US"/>
              <a:t>Die Phasen hängen direkt am Einsparziel aus dem Business Case: −50 % und −75 %.</a:t>
            </a:r>
            <a:br>
              <a:rPr lang="en-US"/>
            </a:br>
            <a:r>
              <a:rPr lang="en-US"/>
              <a:t>Rückfallebene: Die Praxis kann jederzeit wie heute prüfen.</a:t>
            </a:r>
            <a:endParaRPr/>
          </a:p>
        </p:txBody>
      </p:sp>
      <p:sp>
        <p:nvSpPr>
          <p:cNvPr id="766" name="Google Shape;76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8" name="Google Shape;80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DERK · ca. 1,5 min (IHK: Einsatzplanung).</a:t>
            </a:r>
            <a:br>
              <a:rPr lang="en-US"/>
            </a:br>
            <a:r>
              <a:rPr lang="en-US"/>
              <a:t>Die Risiken mit Gegenmaßnahme. Die ersten beiden haben dieselbe Antwort wie unsere Architektur: Was eine Regel ist, kommt in den Code.</a:t>
            </a:r>
            <a:br>
              <a:rPr lang="en-US"/>
            </a:br>
            <a:r>
              <a:rPr lang="en-US"/>
              <a:t>Zeitplan bis zur Prüfung.</a:t>
            </a:r>
            <a:br>
              <a:rPr lang="en-US"/>
            </a:br>
            <a:r>
              <a:rPr lang="en-US"/>
              <a:t>Übergabe an Thomas für den Schluss.</a:t>
            </a:r>
            <a:endParaRPr/>
          </a:p>
        </p:txBody>
      </p:sp>
      <p:sp>
        <p:nvSpPr>
          <p:cNvPr id="809" name="Google Shape;809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1" name="Google Shape;83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1,5 min (IHK: Reflexion, roter Faden).</a:t>
            </a:r>
            <a:br>
              <a:rPr lang="en-US"/>
            </a:br>
            <a:r>
              <a:rPr lang="en-US"/>
              <a:t>Vier Lernpunkte. Der zweite hat sich bis zuletzt bestätigt: Wo eine Regel feststeht, schlägt Code jedes noch so gute Prompting.</a:t>
            </a:r>
            <a:br>
              <a:rPr lang="en-US"/>
            </a:br>
            <a:r>
              <a:rPr lang="en-US"/>
              <a:t>Für künftige Projekte: erst die Praxis verstehen, dann bauen; früh messen; die rechtliche Einordnung hängt an der Zweckbestimmung; und die Tool-Auswahl ist nicht statisch.</a:t>
            </a:r>
            <a:br>
              <a:rPr lang="en-US"/>
            </a:br>
            <a:r>
              <a:rPr lang="en-US"/>
              <a:t>Auch die Teamarbeit erwähnen: Wechsel von vier auf drei Personen mit klarer Streichliste.</a:t>
            </a:r>
            <a:endParaRPr/>
          </a:p>
        </p:txBody>
      </p:sp>
      <p:sp>
        <p:nvSpPr>
          <p:cNvPr id="832" name="Google Shape;83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7" name="Google Shape;86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THOMAS · ca. 1,5 min (IHK: Fazit, roter Faden).</a:t>
            </a:r>
            <a:br>
              <a:rPr lang="en-US"/>
            </a:br>
            <a:r>
              <a:rPr lang="en-US"/>
              <a:t>Zurück zum Anfang: weniger Verwaltung, mehr Zeit für Patienten.</a:t>
            </a:r>
            <a:br>
              <a:rPr lang="en-US"/>
            </a:br>
            <a:r>
              <a:rPr lang="en-US"/>
              <a:t>Drei Zahlen: 96,6 % richtige Ampeln (Ziel 98 %) gegen höchstens ca. 85 % bei menschlicher Doppelkontrolle; Fehler vor der Behandlung statt bei der Abrechnung; ab dem zweiten Jahr ca. 4.300 € pro Jahr an Prüfzeit.</a:t>
            </a:r>
            <a:br>
              <a:rPr lang="en-US"/>
            </a:br>
            <a:r>
              <a:rPr lang="en-US"/>
              <a:t>Empfehlung: Pilot im Parallelbetrieb, sechs Wochen, dann entscheiden.</a:t>
            </a:r>
            <a:br>
              <a:rPr lang="en-US"/>
            </a:br>
            <a:r>
              <a:rPr lang="en-US"/>
              <a:t>Dank und Übergang zu Fragen.</a:t>
            </a:r>
            <a:endParaRPr/>
          </a:p>
        </p:txBody>
      </p:sp>
      <p:sp>
        <p:nvSpPr>
          <p:cNvPr id="868" name="Google Shape;868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4" name="Google Shape;89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ANHANG · nicht vortragen, nur bei Rückfragen zeigen.</a:t>
            </a:r>
            <a:br>
              <a:rPr lang="en-US"/>
            </a:br>
            <a:r>
              <a:rPr lang="en-US"/>
              <a:t>Quellen zur rechtlichen Einordnung. Bei Nachfragen zum KI-Omnibus: Verordnung (EU) 2026/1744, im Amtsblatt am 24.07.2026, in Kraft seit 27.07.2026.</a:t>
            </a:r>
            <a:endParaRPr/>
          </a:p>
        </p:txBody>
      </p:sp>
      <p:sp>
        <p:nvSpPr>
          <p:cNvPr id="895" name="Google Shape;89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dunkel">
  <p:cSld name="Titel dunkel">
    <p:bg>
      <p:bgPr>
        <a:solidFill>
          <a:schemeClr val="dk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title"/>
          </p:nvPr>
        </p:nvSpPr>
        <p:spPr>
          <a:xfrm>
            <a:off x="731520" y="210312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1"/>
          </p:nvPr>
        </p:nvSpPr>
        <p:spPr>
          <a:xfrm>
            <a:off x="731520" y="3337560"/>
            <a:ext cx="86868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">
  <p:cSld name="Inha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6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  <a:defRPr sz="2800" b="1" i="0" u="none" strike="noStrike" cap="non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36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Verordnungs-Check · IHK-Präsentation · Stand 28.10.2026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6"/>
          <p:cNvSpPr txBox="1">
            <a:spLocks noGrp="1"/>
          </p:cNvSpPr>
          <p:nvPr>
            <p:ph type="sldNum" idx="12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dunkel">
  <p:cSld name="Inhalt dunkel">
    <p:bg>
      <p:bgPr>
        <a:solidFill>
          <a:schemeClr val="dk2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7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  <a:defRPr sz="2800" b="1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7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Verordnungs-Check · IHK-Präsentation · Stand 28.10.2026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7"/>
          <p:cNvSpPr txBox="1">
            <a:spLocks noGrp="1"/>
          </p:cNvSpPr>
          <p:nvPr>
            <p:ph type="sldNum" idx="12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sldNum" idx="12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2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Relationship Id="rId8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>
            <a:spLocks noGrp="1"/>
          </p:cNvSpPr>
          <p:nvPr>
            <p:ph type="title"/>
          </p:nvPr>
        </p:nvSpPr>
        <p:spPr>
          <a:xfrm>
            <a:off x="731520" y="2103120"/>
            <a:ext cx="8686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Der Verordnungs-Check</a:t>
            </a:r>
            <a:endParaRPr sz="4400"/>
          </a:p>
        </p:txBody>
      </p:sp>
      <p:sp>
        <p:nvSpPr>
          <p:cNvPr id="29" name="Google Shape;29;p1"/>
          <p:cNvSpPr txBox="1">
            <a:spLocks noGrp="1"/>
          </p:cNvSpPr>
          <p:nvPr>
            <p:ph type="body" idx="1"/>
          </p:nvPr>
        </p:nvSpPr>
        <p:spPr>
          <a:xfrm>
            <a:off x="731520" y="3337560"/>
            <a:ext cx="86868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Weniger Admin, mehr Zeit für Patienten</a:t>
            </a:r>
            <a:endParaRPr sz="200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IHK-Präsentation · Stand 28.10.2026</a:t>
            </a:r>
            <a:endParaRPr sz="2000"/>
          </a:p>
        </p:txBody>
      </p:sp>
      <p:sp>
        <p:nvSpPr>
          <p:cNvPr id="30" name="Google Shape;30;p1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 Kullmann · Valentin Klamka · Derk Ermler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731520" y="5257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KI-gestützte Prüfung von Heilmittelverordnungen (Physiotherapie, GKV, Muster 13) · Praxis anonymisiert, nur synthetische Testdaten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Ablauf: drei Rollen, ein roter Faden</a:t>
            </a:r>
            <a:endParaRPr sz="2800"/>
          </a:p>
        </p:txBody>
      </p:sp>
      <p:sp>
        <p:nvSpPr>
          <p:cNvPr id="41" name="Google Shape;41;p2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132588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3258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777240" y="14356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mbria"/>
              <a:buNone/>
            </a:pPr>
            <a:r>
              <a:rPr lang="en-US" sz="20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Thomas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777240" y="18288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ca. 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440" y="15819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77724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Koordination, Ist/Soll &amp; Business Case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777240" y="2788920"/>
            <a:ext cx="31546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Unternehmen, Field Study, Ist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Einsatzfelder an zwei Standorten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Soll, Ziele, Business Case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Schluss: Reflexion und Fazit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777240" y="4892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IHK-Kriterien: Ist/Soll · Einsatzfelder · Roter Faden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297680" y="132588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297680" y="13258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4526280" y="14356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mbria"/>
              <a:buNone/>
            </a:pPr>
            <a:r>
              <a:rPr lang="en-US" sz="20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Valentin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4526280" y="18288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ca. 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9480" y="15819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 txBox="1"/>
          <p:nvPr/>
        </p:nvSpPr>
        <p:spPr>
          <a:xfrm>
            <a:off x="452628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Tools, Architektur &amp; Governance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4526280" y="2788920"/>
            <a:ext cx="31546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Tool-Vergleich: warum, warum nicht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Architekturentscheidungen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EU AI Act und DSGVO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4526280" y="4892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IHK-Kriterien: Tool-Vergleich · Tool-Auswahl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046720" y="132588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046720" y="13258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275320" y="143560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mbria"/>
              <a:buNone/>
            </a:pPr>
            <a:r>
              <a:rPr lang="en-US" sz="20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Derk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8275320" y="182880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ca. 10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8520" y="15819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8275320" y="23317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Build, Demo &amp; Evaluation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275320" y="2788920"/>
            <a:ext cx="315468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 vier Prüfer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Live-Demo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Erfolgsmessung, Testbatterie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Einsatzplanung und Risiken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275320" y="4892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IHK-Kriterien: Einsatzplanung · Erfolgsmessung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Gesamt ca. 30 min · Orthografie und Schreibstil verantworten wir gemeinsam im Vier-Augen-Prinzip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Das Unternehmen: Physiotherapie im GKV-System</a:t>
            </a:r>
            <a:endParaRPr sz="2800"/>
          </a:p>
        </p:txBody>
      </p:sp>
      <p:sp>
        <p:nvSpPr>
          <p:cNvPr id="76" name="Google Shape;76;p3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48640" y="1325880"/>
            <a:ext cx="3291840" cy="1325880"/>
          </a:xfrm>
          <a:prstGeom prst="roundRect">
            <a:avLst>
              <a:gd name="adj" fmla="val 551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1527048"/>
            <a:ext cx="530352" cy="530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108" y="165963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1417320" y="143560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 Praxen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1417320" y="19659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ca. 10 Mitarbeitende; GKV und privat getrennt, Terminvergabe zentral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023360" y="1325880"/>
            <a:ext cx="3291840" cy="1325880"/>
          </a:xfrm>
          <a:prstGeom prst="roundRect">
            <a:avLst>
              <a:gd name="adj" fmla="val 551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206240" y="1527048"/>
            <a:ext cx="530352" cy="530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8828" y="165963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3"/>
          <p:cNvSpPr txBox="1"/>
          <p:nvPr/>
        </p:nvSpPr>
        <p:spPr>
          <a:xfrm>
            <a:off x="4892040" y="143560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ca. 40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4892040" y="19659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neue Kassenverordnungen pro Woche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48640" y="2807208"/>
            <a:ext cx="3291840" cy="1325880"/>
          </a:xfrm>
          <a:prstGeom prst="roundRect">
            <a:avLst>
              <a:gd name="adj" fmla="val 551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31520" y="3008376"/>
            <a:ext cx="530352" cy="530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4108" y="314096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1417320" y="291693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1,9 %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1417320" y="344728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vom Umsatz an den externen Abrechnungsdienstleister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023360" y="2807208"/>
            <a:ext cx="3291840" cy="1325880"/>
          </a:xfrm>
          <a:prstGeom prst="roundRect">
            <a:avLst>
              <a:gd name="adj" fmla="val 551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206240" y="3008376"/>
            <a:ext cx="530352" cy="530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38828" y="314096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4892040" y="291693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keine KI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4892040" y="344728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keinem Bereich, an keinem Standort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4343400"/>
            <a:ext cx="6766560" cy="1600200"/>
          </a:xfrm>
          <a:prstGeom prst="roundRect">
            <a:avLst>
              <a:gd name="adj" fmla="val 457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822960" y="4434840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Warum die Verordnung so wichtig ist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822960" y="4828032"/>
            <a:ext cx="63093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Jede Kassenbehandlung braucht eine gültige Verordnung auf Muster 13.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 gültig ist, regeln öffentliche Regelwerke von G-BA und KBV.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Fehler entdeckt? Dann kürzt die Kasse die Vergütung (Absetzung).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170795" y="1289304"/>
            <a:ext cx="2888243" cy="43251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9D6D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" descr="Muster 13 (Blankoformular mit Feldnummern)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07371" y="1325880"/>
            <a:ext cx="2815091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7452360" y="5650992"/>
            <a:ext cx="4325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Muster 13: Diese Felder prüft die Rezeption heute von Hand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Quellen: Field Study 16.10.2026 und Nachtrag 23.10.2026 · Bild: KV Sachsen-Anhalt, Ausfüllhilfe Muster 13, Stand 01.01.2021 (Blankoformular)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Field Study: gefragt statt geraten</a:t>
            </a:r>
            <a:endParaRPr sz="2800"/>
          </a:p>
        </p:txBody>
      </p:sp>
      <p:sp>
        <p:nvSpPr>
          <p:cNvPr id="113" name="Google Shape;113;p4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12064" y="1289304"/>
            <a:ext cx="3502152" cy="401601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9D6D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4" descr="Ist-Interview, Fragebogen Seite 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1325880"/>
            <a:ext cx="3429000" cy="39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 txBox="1"/>
          <p:nvPr/>
        </p:nvSpPr>
        <p:spPr>
          <a:xfrm>
            <a:off x="457200" y="5341897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Ist-Interview 16.10.2026 · Seite 1 von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23944" y="1289304"/>
            <a:ext cx="3502152" cy="4209929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9D6D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4" descr="Nachtrag zum Ist-Int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0520" y="1325880"/>
            <a:ext cx="3429000" cy="4136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4069080" y="5535809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Nachtrag 23.10.2026 · KI-Nutzung, Standorte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726680" y="1325880"/>
            <a:ext cx="3913632" cy="4526280"/>
          </a:xfrm>
          <a:prstGeom prst="roundRect">
            <a:avLst>
              <a:gd name="adj" fmla="val 186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955280" y="1508760"/>
            <a:ext cx="530352" cy="5303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7868" y="164134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8641080" y="1554480"/>
            <a:ext cx="28346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Methode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7955280" y="2194560"/>
            <a:ext cx="347472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Stunde mit der Mitinhaberin, 13 Fragen, Pflichtfragen markiert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Zahlen mit Einheit: Minuten, Fälle, €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Einverständnis zur anonymisierten Verwendung (F13)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Nachtrag statt nachträglich geändertem Original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7955280" y="4315968"/>
            <a:ext cx="3474720" cy="0"/>
          </a:xfrm>
          <a:prstGeom prst="straightConnector1">
            <a:avLst/>
          </a:prstGeom>
          <a:noFill/>
          <a:ln w="9525" cap="flat" cmpd="sng">
            <a:solidFill>
              <a:srgbClr val="5C6B7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4"/>
          <p:cNvSpPr txBox="1"/>
          <p:nvPr/>
        </p:nvSpPr>
        <p:spPr>
          <a:xfrm>
            <a:off x="7955280" y="4434840"/>
            <a:ext cx="34747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Keine KI ist der Normalfall: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2024 nutzten 20 % der Unternehmen KI (Destatis), kleine Unternehmen 36 % (IW-Befragung).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Quellen: eigene Field Study (Fragebogen, Nachtrag) · Destatis und IW zitiert nach IHK-Rahmenplan „KI-Tool-Experte/Expertin (IHK)“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Ist-Situation: So prüft die Praxis heute</a:t>
            </a:r>
            <a:endParaRPr sz="2800"/>
          </a:p>
        </p:txBody>
      </p:sp>
      <p:sp>
        <p:nvSpPr>
          <p:cNvPr id="137" name="Google Shape;137;p5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5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225296" y="1481328"/>
            <a:ext cx="658368" cy="6583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9888" y="16459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64008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Annahme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640080" y="2560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Rezeption prüft die Verordnung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Ø 6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 rot="5400000">
            <a:off x="2569464" y="2258568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81178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488436" y="1481328"/>
            <a:ext cx="658368" cy="6583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3028" y="16459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290322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Behandlung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2903220" y="2560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Leistung wird erbracht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 rot="5400000">
            <a:off x="4832604" y="2258568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7492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751576" y="1481328"/>
            <a:ext cx="658368" cy="6583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6168" y="16459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 txBox="1"/>
          <p:nvPr/>
        </p:nvSpPr>
        <p:spPr>
          <a:xfrm>
            <a:off x="516636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Schlussprüfung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166360" y="2560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vor der Abrechnung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166360" y="2926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ca. 2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 rot="5400000">
            <a:off x="7095744" y="2258568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33806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8014716" y="1481328"/>
            <a:ext cx="658368" cy="6583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79308" y="16459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742950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Dienstleister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7429500" y="2560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rechnet ab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7429500" y="2926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1,9 % vom Umsatz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 rot="5400000">
            <a:off x="9358884" y="2258568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9601200" y="1325880"/>
            <a:ext cx="2011680" cy="201168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0277856" y="1481328"/>
            <a:ext cx="658368" cy="6583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42448" y="16459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9692640" y="22402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Krankenkasse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9692640" y="2560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kürzt bei Fehlern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9692640" y="2926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ca. 10 Fälle/Jahr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48640" y="3657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22960" y="38404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mbria"/>
              <a:buNone/>
            </a:pPr>
            <a:r>
              <a:rPr lang="en-US" sz="48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90 %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822960" y="480060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 Fehler entstehen bei Doppel- und Folgeverordnungen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297680" y="3657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4572000" y="38404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mbria"/>
              <a:buNone/>
            </a:pPr>
            <a:r>
              <a:rPr lang="en-US" sz="48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≤ 85 %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4572000" y="480060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Wirksamkeit menschlicher Doppelkontrollen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8046720" y="365760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8321040" y="38404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Cambria"/>
              <a:buNone/>
            </a:pPr>
            <a:r>
              <a:rPr lang="en-US" sz="48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5,3 h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8321040" y="480060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Prüfzeit pro Woche: 40 Verordnungen × 8 min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Quelle: Field Study, Ist-Interview am 16.10.2026 · Die Praxissoftware zeigt nicht, wie viele Einheiten ein Patient beim selben Arzt schon hatte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Einsatzfelder: erst die Landkarte, dann der Pilot</a:t>
            </a:r>
            <a:endParaRPr sz="2800"/>
          </a:p>
        </p:txBody>
      </p:sp>
      <p:sp>
        <p:nvSpPr>
          <p:cNvPr id="190" name="Google Shape;190;p6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6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965960" y="1325880"/>
            <a:ext cx="5074920" cy="3611880"/>
          </a:xfrm>
          <a:prstGeom prst="roundRect">
            <a:avLst>
              <a:gd name="adj" fmla="val 202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6"/>
          <p:cNvCxnSpPr/>
          <p:nvPr/>
        </p:nvCxnSpPr>
        <p:spPr>
          <a:xfrm>
            <a:off x="4503420" y="1463040"/>
            <a:ext cx="0" cy="3337560"/>
          </a:xfrm>
          <a:prstGeom prst="straightConnector1">
            <a:avLst/>
          </a:prstGeom>
          <a:noFill/>
          <a:ln w="12700" cap="flat" cmpd="sng">
            <a:solidFill>
              <a:srgbClr val="C9D6D3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5" name="Google Shape;195;p6"/>
          <p:cNvCxnSpPr/>
          <p:nvPr/>
        </p:nvCxnSpPr>
        <p:spPr>
          <a:xfrm>
            <a:off x="2103120" y="3131820"/>
            <a:ext cx="4800600" cy="0"/>
          </a:xfrm>
          <a:prstGeom prst="straightConnector1">
            <a:avLst/>
          </a:prstGeom>
          <a:noFill/>
          <a:ln w="12700" cap="flat" cmpd="sng">
            <a:solidFill>
              <a:srgbClr val="C9D6D3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96" name="Google Shape;196;p6"/>
          <p:cNvCxnSpPr/>
          <p:nvPr/>
        </p:nvCxnSpPr>
        <p:spPr>
          <a:xfrm rot="10800000">
            <a:off x="1856232" y="1325880"/>
            <a:ext cx="0" cy="3611880"/>
          </a:xfrm>
          <a:prstGeom prst="straightConnector1">
            <a:avLst/>
          </a:prstGeom>
          <a:noFill/>
          <a:ln w="25400" cap="flat" cmpd="sng">
            <a:solidFill>
              <a:srgbClr val="1234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7" name="Google Shape;197;p6"/>
          <p:cNvSpPr txBox="1"/>
          <p:nvPr/>
        </p:nvSpPr>
        <p:spPr>
          <a:xfrm>
            <a:off x="54864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hoch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48640" y="22402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Nutzen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48640" y="2624328"/>
            <a:ext cx="12344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Zeit gespart, Fehler vermieden, Rezeption entlastet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48640" y="466344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6"/>
          <p:cNvCxnSpPr/>
          <p:nvPr/>
        </p:nvCxnSpPr>
        <p:spPr>
          <a:xfrm>
            <a:off x="1965960" y="5047488"/>
            <a:ext cx="5074920" cy="0"/>
          </a:xfrm>
          <a:prstGeom prst="straightConnector1">
            <a:avLst/>
          </a:prstGeom>
          <a:noFill/>
          <a:ln w="25400" cap="flat" cmpd="sng">
            <a:solidFill>
              <a:srgbClr val="1234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2" name="Google Shape;202;p6"/>
          <p:cNvSpPr txBox="1"/>
          <p:nvPr/>
        </p:nvSpPr>
        <p:spPr>
          <a:xfrm>
            <a:off x="1965960" y="5120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6126480" y="5120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hoch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2880360" y="51206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Machbarkeit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1691640" y="5504688"/>
            <a:ext cx="5623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Daten vorhanden, ohne Schnittstelle zur Praxissoftware umsetzbar, geringes Risiko (Datenschutz, Fehlentscheidung)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483096" y="1499616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4105656" y="152704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Verordnungs-Check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375404" y="1563624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1997964" y="152704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Zentrale Terminvergabe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461254" y="2571750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3083814" y="253517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Erstattungshinweis (privat)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547104" y="3003804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169664" y="29672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Erinnerungen an Patienten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203704" y="3003804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2532888" y="296722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Abrechnungs-Vorbereitung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375404" y="3723894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4704588" y="368731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Therapieberichte an Ärzte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375404" y="4443984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4704588" y="440740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Dienst- &amp; Raumplanung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315200" y="1325880"/>
            <a:ext cx="4325112" cy="4297680"/>
          </a:xfrm>
          <a:prstGeom prst="roundRect">
            <a:avLst>
              <a:gd name="adj" fmla="val 170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668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 txBox="1"/>
          <p:nvPr/>
        </p:nvSpPr>
        <p:spPr>
          <a:xfrm>
            <a:off x="8275320" y="1600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Warum dieser Pilot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7589520" y="2194560"/>
            <a:ext cx="379476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Trifft das größte Problem: 90 % der Fehler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Regeln sind öffentlich und belegbar (G-BA, KBV)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Keine Schnittstelle nötig: Formular oder Chat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Geringes Risiko: Die Rezeption entscheidet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Messbar: Zeit, Trefferquote, Nacharbeit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7543800" y="4343400"/>
            <a:ext cx="3867912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7680960" y="4416552"/>
            <a:ext cx="361188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Zwei Praxen, eine Weiche: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 zentrale Terminvergabe schickt GKV-Rezepte in den Verordnungs-Check, Privatpatienten erhalten einen Erstattungshinweis (Ausblick).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Einschätzung des Teams, keine Messung · im Pilot nur für den Verordnungs-Check überprüft · Privatpatienten: keine HeilM-RL, keine Höchstmengen, Erstattung je Tarif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Soll: Fehler vor der Behandlung finden</a:t>
            </a:r>
            <a:endParaRPr sz="2800"/>
          </a:p>
        </p:txBody>
      </p:sp>
      <p:sp>
        <p:nvSpPr>
          <p:cNvPr id="235" name="Google Shape;235;p7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48640" y="1325880"/>
            <a:ext cx="5120640" cy="4526280"/>
          </a:xfrm>
          <a:prstGeom prst="roundRect">
            <a:avLst>
              <a:gd name="adj" fmla="val 161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822960" y="146304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Soll-Prozess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1463040" y="199339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Verordnung kommt 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1463040" y="231343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Rezeption gibt sie per Formular oder Chat ein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822960" y="2944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1463040" y="29260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 prüft in ca. 30 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1463040" y="32461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vier Prüfer, Ampel mit Fundstelle im Regelwerk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22960" y="387705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822960" y="38770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1463040" y="385876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Rezeption entscheidet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1463040" y="417880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behandeln, nachfragen oder korrigieren lassen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822960" y="4809744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822960" y="48097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1463040" y="479145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Schlussprüfung entfällt schrittweise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1463040" y="5111496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erst nach bestandenem Parallelbetrieb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" name="Google Shape;256;p7"/>
          <p:cNvGraphicFramePr/>
          <p:nvPr/>
        </p:nvGraphicFramePr>
        <p:xfrm>
          <a:off x="5897880" y="1325880"/>
          <a:ext cx="5742450" cy="361187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12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Erfolgsindikator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Zeit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Prüfzeit −50 % nach 2 Quartalen, −75 % nach 4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Stoppuhr-Stichprobe vorher/nachher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Qualität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98 % richtige Ampel, 0 übersehene rote Fälle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 mit ≥ 50 Fällen × 3 Läufe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Vertrauen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1 kritischer Fehlalarm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Abweichungen im Parallelbetrieb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Akzeptanz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Rezeption folgt der Ampel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Quote im Pilot, Rückmeldungen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7" name="Google Shape;257;p7"/>
          <p:cNvSpPr txBox="1"/>
          <p:nvPr/>
        </p:nvSpPr>
        <p:spPr>
          <a:xfrm>
            <a:off x="5897880" y="5257800"/>
            <a:ext cx="5742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 i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Die </a:t>
            </a:r>
            <a:r>
              <a:rPr lang="en-US" sz="1300" i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Indikatoren</a:t>
            </a:r>
            <a:r>
              <a:rPr lang="en-US" sz="1300" i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i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sind</a:t>
            </a:r>
            <a:r>
              <a:rPr lang="en-US" sz="1300" i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i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zugleich</a:t>
            </a:r>
            <a:r>
              <a:rPr lang="en-US" sz="1300" i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der </a:t>
            </a:r>
            <a:r>
              <a:rPr lang="en-US" sz="1300" i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Kontrollmaßstab</a:t>
            </a:r>
            <a:r>
              <a:rPr lang="en-US" sz="1300" i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in der </a:t>
            </a:r>
            <a:r>
              <a:rPr lang="en-US" sz="1300" i="1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Erfolgsmessung</a:t>
            </a:r>
            <a:r>
              <a:rPr lang="en-US" sz="1300" i="1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Annahmen und Einordnung des Business Case</a:t>
            </a:r>
            <a:endParaRPr sz="2800"/>
          </a:p>
        </p:txBody>
      </p:sp>
      <p:sp>
        <p:nvSpPr>
          <p:cNvPr id="287" name="Google Shape;287;p9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0" name="Google Shape;290;p9"/>
          <p:cNvGraphicFramePr/>
          <p:nvPr/>
        </p:nvGraphicFramePr>
        <p:xfrm>
          <a:off x="548640" y="1325880"/>
          <a:ext cx="7223750" cy="388620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Größe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Wert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Herkunft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Prüfzeit heute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5,3 h pro Woche (40 × 8 min)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Ist-Interview 16.10.2026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Einsparziel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50 % nach 2 Quartalen, 75 % nach 4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Annahme des Teams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Stundenlohn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15,99 € = Mindestlohn 2026 (13,90 €) + 15 %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Annahme; Marktvergleich Rezeption 12,77–15,36 €/h (gehalt.de)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Arbeitgeberkosten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20,97 €/h mit Minijob-Pauschalabgaben (bis 31,17 %)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Minijob-Regeln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Minijob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max. 603 €/Monat ≈ 8,7 h/Woche; ≈ 9.500 €/Jahr mit Abgaben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Minijob-Grenze 2026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1" name="Google Shape;291;p9"/>
          <p:cNvSpPr/>
          <p:nvPr/>
        </p:nvSpPr>
        <p:spPr>
          <a:xfrm>
            <a:off x="8001000" y="1325880"/>
            <a:ext cx="3639312" cy="4526280"/>
          </a:xfrm>
          <a:prstGeom prst="roundRect">
            <a:avLst>
              <a:gd name="adj" fmla="val 201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8275320" y="1463040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Einordnung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8275320" y="1965960"/>
            <a:ext cx="315468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Nicht doppelt gezählt: Die freien Stunden sind der halbe Minijob, nicht zusätzlich.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„Vermeiden“ statt „ersetzen“: keine Kündigung, sondern keine zusätzliche Stelle bei Wachstum.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 2027 Mindestlohn 14,60 € – Ersparnis steigt leicht.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Gegenzurechnen: KI-Kosten 70–142 €/Jahr (Valentin), dazu n8n- und Supabase-Abo.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Annahmen sind gekennzeichnet · alle Rechenwege in der Projektarbeit, Kapitel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Business Case: 75 % weniger Prüfzeit nach einem Jahr</a:t>
            </a:r>
            <a:endParaRPr sz="2800"/>
          </a:p>
        </p:txBody>
      </p:sp>
      <p:sp>
        <p:nvSpPr>
          <p:cNvPr id="265" name="Google Shape;265;p8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8"/>
          <p:cNvGraphicFramePr/>
          <p:nvPr/>
        </p:nvGraphicFramePr>
        <p:xfrm>
          <a:off x="548640" y="128016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9" name="Google Shape;269;p8"/>
          <p:cNvSpPr/>
          <p:nvPr/>
        </p:nvSpPr>
        <p:spPr>
          <a:xfrm>
            <a:off x="7818120" y="1325880"/>
            <a:ext cx="3822192" cy="1371600"/>
          </a:xfrm>
          <a:prstGeom prst="roundRect">
            <a:avLst>
              <a:gd name="adj" fmla="val 533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8092440" y="14447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Jahr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8092440" y="1737360"/>
            <a:ext cx="32735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≈ 3.070 €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8092440" y="2304288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146 h frei · Anlauf 25 → 75 %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818120" y="2834640"/>
            <a:ext cx="3822192" cy="1371600"/>
          </a:xfrm>
          <a:prstGeom prst="roundRect">
            <a:avLst>
              <a:gd name="adj" fmla="val 53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8092440" y="29535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ab Jahr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8092440" y="3246120"/>
            <a:ext cx="327355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mbria"/>
              <a:buNone/>
            </a:pPr>
            <a:r>
              <a:rPr lang="en-US" sz="32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≈ 4.300 € / Jahr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8092440" y="3813048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207 h frei · etwa ½ Minijob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818120" y="4343400"/>
            <a:ext cx="3822192" cy="1417320"/>
          </a:xfrm>
          <a:prstGeom prst="roundRect">
            <a:avLst>
              <a:gd name="adj" fmla="val 516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8092440" y="4480560"/>
            <a:ext cx="327355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Der Hebel ist die Prüfzeit,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nicht die Absetzungen (nur ca. 500 € pro Jahr). Ziel: einen zusätzlichen Minijob bei Wachstum vermeiden, keine Stelle ersetzen.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5,3 h/Woche × 13 Wochen je Quartal · Anstieg Q1 25 % · Q2 50 % · Q3 62,5 % · Q4 75 %, danach 75 % · 20,97 € je Stunde (Herleitung nächste Folie)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Tool-Vergleich: von den Anforderungen zur Auswahl</a:t>
            </a:r>
            <a:endParaRPr sz="2800"/>
          </a:p>
        </p:txBody>
      </p:sp>
      <p:sp>
        <p:nvSpPr>
          <p:cNvPr id="302" name="Google Shape;302;p10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864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15887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 txBox="1"/>
          <p:nvPr/>
        </p:nvSpPr>
        <p:spPr>
          <a:xfrm>
            <a:off x="731520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· Anforderungen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731520" y="23957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aus Ist/Soll abgeleitet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 rot="5400000">
            <a:off x="2569464" y="20574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281178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99466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0390" y="15887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 txBox="1"/>
          <p:nvPr/>
        </p:nvSpPr>
        <p:spPr>
          <a:xfrm>
            <a:off x="2994660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· Kriterien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2994660" y="23957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fünf IHK-Kriterien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 rot="5400000">
            <a:off x="4832604" y="20574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07492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25780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83530" y="15887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0"/>
          <p:cNvSpPr txBox="1"/>
          <p:nvPr/>
        </p:nvSpPr>
        <p:spPr>
          <a:xfrm>
            <a:off x="5257800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 · Vorauswahl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5257800" y="23957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je Baustein 2–4 Kandidaten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 rot="5400000">
            <a:off x="7095744" y="20574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733806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752094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46670" y="15887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 txBox="1"/>
          <p:nvPr/>
        </p:nvSpPr>
        <p:spPr>
          <a:xfrm>
            <a:off x="7520940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· Praxistest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7520940" y="23957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mit</a:t>
            </a:r>
            <a:r>
              <a:rPr lang="en-US" sz="1200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allen</a:t>
            </a:r>
            <a:r>
              <a:rPr lang="en-US" sz="1200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Versionsständen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 rot="5400000">
            <a:off x="9358884" y="20574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9601200" y="1325880"/>
            <a:ext cx="2011680" cy="1600200"/>
          </a:xfrm>
          <a:prstGeom prst="roundRect">
            <a:avLst>
              <a:gd name="adj" fmla="val 457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9784080" y="14630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09810" y="15887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 txBox="1"/>
          <p:nvPr/>
        </p:nvSpPr>
        <p:spPr>
          <a:xfrm>
            <a:off x="9784080" y="20574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 · Fazit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9784080" y="23957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begründete Auswahl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10"/>
          <p:cNvGraphicFramePr/>
          <p:nvPr/>
        </p:nvGraphicFramePr>
        <p:xfrm>
          <a:off x="548640" y="3154680"/>
          <a:ext cx="11091675" cy="267005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834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Anforderung aus dem Ist/Soll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IHK-Kriterium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Verordnungen sind Gesundheitsdaten (Art. 9 DSGVO); Daten in der EU, Pseudonym statt Name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Datenschutz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Rezeption ohne IT-Kenntnisse: Formular oder Chat, Antwort in Sekunden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Benutzerfreundlichkeit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Jeder Befund mit Fundstelle aus öffentlichen Regelwerken; Regeln ändern sich jährlich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Funktionalität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Keine Schnittstelle zur Praxissoftware nötig, Protokoll jeder Prüfung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Integrationsfähigkeit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Laufende Kosten klein gegenüber der eingesparten Zeit (Ziel ≤ 5 Cent je Prüfung)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5" name="Google Shape;335;p10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Orchestrierung: n8n und die Alternativen</a:t>
            </a:r>
            <a:endParaRPr sz="2800"/>
          </a:p>
        </p:txBody>
      </p:sp>
      <p:sp>
        <p:nvSpPr>
          <p:cNvPr id="342" name="Google Shape;342;p11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5" name="Google Shape;345;p11"/>
          <p:cNvGraphicFramePr/>
          <p:nvPr/>
        </p:nvGraphicFramePr>
        <p:xfrm>
          <a:off x="548640" y="1325880"/>
          <a:ext cx="11091675" cy="411480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219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Kandidat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Stärke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Schwäche für unseren Fall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Ergebnis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n8n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Agenten, Vektorsuche und Code-Knoten in einem Workflow; native Knoten für OpenAI und Supabase; Export als JSON für GitHub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Kein fertiges Frontend; JavaScript-Kenntnisse für Code-Knoten nötig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gewählt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Microsoft Copilot Studio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 MSIT-Programm bekannt, gute Chat-Oberfläche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Anbindung an Supabase und eigene Rechenlogik umständlicher; n8n ist Kernplattform des Capstones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Eigener Code (z. B. Python)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Volle Kontrolle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Mehr Bauzeit; schwerer für die Praxis zu warten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Eigenes Frontend (z. B. Lovable)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Schöne Oberfläche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Kostet Bauzeit ohne Prüfnutzen; n8n-Formular und -Chat reichen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Reine Regel-Engine ohne KI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Deterministisch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Eingabe ist Freitext, Regeln stehen in langen PDF-Regelwerken – dafür braucht es Sprachverständnis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6" name="Google Shape;346;p11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Ehrlich bleiben: n8n ist durch das MSIT-Capstone vorgegeben – wir haben es trotzdem gegen die Alternativen bewertet · Quelle: docs/implementierung.md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Sprachmodell und Embeddings: klein, günstig, einheitlich</a:t>
            </a:r>
            <a:endParaRPr sz="2800"/>
          </a:p>
        </p:txBody>
      </p:sp>
      <p:sp>
        <p:nvSpPr>
          <p:cNvPr id="354" name="Google Shape;354;p12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2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12"/>
          <p:cNvGraphicFramePr/>
          <p:nvPr/>
        </p:nvGraphicFramePr>
        <p:xfrm>
          <a:off x="548640" y="1325880"/>
          <a:ext cx="7863825" cy="457202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Kandidat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Warum (nicht)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Ergebnis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gpt-4.1-mini, Temperatur 0,1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Reicht, weil Regeln der Code rechnet; ca. 3 Cent und ca. 34 s je Prüfung; niedrige Temperatur = reproduzierbarer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gewählt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Größere Modelle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Mehr Kosten und Wartezeit; der wichtigste Fehler (falsche ICD-Zuordnung) wurde nicht durch Modellgröße, sondern durch Code gelöst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 mit EU-Hosting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Datenschutz-Vorteil; im Prototyp nur synthetische Daten → vor Echtbetrieb neu bewerten (OpenAI bietet seit Feb. 2025 EU-Datenresidenz für API-Projekte)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Echtbetrieb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text-embedding-3-small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Wissensbasis (380 Abschnitte, 1.536 Dimensionen) ist damit geladen – Suchanfragen müssen mit demselben Modell eingebettet werden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gewählt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 über OpenRouter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Embeddings eines anderen Modells liegen in einem anderen Vektorraum → Suche wertlos. Nur nach komplettem Neuladen der Wissensbasis möglich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" name="Google Shape;358;p12"/>
          <p:cNvSpPr/>
          <p:nvPr/>
        </p:nvSpPr>
        <p:spPr>
          <a:xfrm>
            <a:off x="8595360" y="1325880"/>
            <a:ext cx="3044952" cy="4572000"/>
          </a:xfrm>
          <a:prstGeom prst="roundRect">
            <a:avLst>
              <a:gd name="adj" fmla="val 240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8823960" y="150876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112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 txBox="1"/>
          <p:nvPr/>
        </p:nvSpPr>
        <p:spPr>
          <a:xfrm>
            <a:off x="8823960" y="219456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Beim Zusammenführen gelernt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8823960" y="2926080"/>
            <a:ext cx="260604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Embedding-Modell: zwingend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dasselbe wie beim Laden der Wissensbasis.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lang="en-US"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Chat-Modell: bewusst vereinheitlicht, </a:t>
            </a: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damit alle Testergebnisse vergleichbar bleiben. Technisch wäre ein anderes möglich.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Wissensbasis: warum RAG mit Supabase pgvector</a:t>
            </a:r>
            <a:endParaRPr sz="2800"/>
          </a:p>
        </p:txBody>
      </p:sp>
      <p:sp>
        <p:nvSpPr>
          <p:cNvPr id="371" name="Google Shape;371;p13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4" name="Google Shape;374;p13"/>
          <p:cNvGraphicFramePr/>
          <p:nvPr/>
        </p:nvGraphicFramePr>
        <p:xfrm>
          <a:off x="548640" y="1325880"/>
          <a:ext cx="7863825" cy="434340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246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Ansatz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Warum (nicht)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Ergebnis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RAG: Regelwerke als Abschnitte in einer Vektorsuche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Jeder Befund kann seine Fundstelle nennen; neue Fassung = Knopfdruck „Wissensbasis laden“ (KBV-Liste z. B. jährlich zum 1. Januar)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gewählt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Fine-Tuning des Modells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Regeln ändern sich jährlich → jedes Mal neu trainieren; keine überprüfbare Fundstelle; teuer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Gesamte Regelwerke in den Prompt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Hunderte Seiten je Prüfung → hohe Kosten und lange Wartezeit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 pgvector (EU, Frankfurt)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Eine Datenbank für Wissensbasis, Protokoll und künftig Historie; Zugriffsschutz auf Zeilenebene; EU-Region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gewählt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Eigenständige Vektordatenbank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Zweites System mit eigenem Vertrag und Zugang – ohne Mehrwert bei ca. 380 Abschnitten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5" name="Google Shape;375;p13"/>
          <p:cNvSpPr/>
          <p:nvPr/>
        </p:nvSpPr>
        <p:spPr>
          <a:xfrm>
            <a:off x="8595360" y="1325880"/>
            <a:ext cx="3044952" cy="4572000"/>
          </a:xfrm>
          <a:prstGeom prst="roundRect">
            <a:avLst>
              <a:gd name="adj" fmla="val 240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8823960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112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3"/>
          <p:cNvSpPr txBox="1"/>
          <p:nvPr/>
        </p:nvSpPr>
        <p:spPr>
          <a:xfrm>
            <a:off x="8823960" y="219456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Nur frei zugängliche Quellen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8823960" y="2926080"/>
            <a:ext cx="2606040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Heilmittel-Richtlinie (G-BA): 236 Abschnitte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Heilmittelkatalog (G-BA): 82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KBV-Diagnoseliste: 62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ICD-10-GM bewusst nicht vollständig im Repository (Nutzungsvertrag BfArM)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Drei Regelwerke: Die Suche liefert, der Code rechnet</a:t>
            </a:r>
            <a:endParaRPr sz="2800"/>
          </a:p>
        </p:txBody>
      </p:sp>
      <p:sp>
        <p:nvSpPr>
          <p:cNvPr id="388" name="Google Shape;388;p14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4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572725" y="1289304"/>
            <a:ext cx="3517991" cy="24048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9D6D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4" descr="Heilmittel-Richtlinie (G-BA) (Ausschnitt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301" y="1325880"/>
            <a:ext cx="3444839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4"/>
          <p:cNvSpPr txBox="1"/>
          <p:nvPr/>
        </p:nvSpPr>
        <p:spPr>
          <a:xfrm>
            <a:off x="548640" y="37947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Heilmittel-Richtlinie (G-BA)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548640" y="4114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236 Abschnitte · Fassung vom 15.05.2025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83F4FF-AAAB-4C4E-E550-DBBE196F6976}"/>
              </a:ext>
            </a:extLst>
          </p:cNvPr>
          <p:cNvGrpSpPr/>
          <p:nvPr/>
        </p:nvGrpSpPr>
        <p:grpSpPr>
          <a:xfrm>
            <a:off x="2379726" y="4434840"/>
            <a:ext cx="3566160" cy="1417320"/>
            <a:chOff x="548640" y="4480560"/>
            <a:chExt cx="3566160" cy="1417320"/>
          </a:xfrm>
        </p:grpSpPr>
        <p:sp>
          <p:nvSpPr>
            <p:cNvPr id="395" name="Google Shape;395;p14"/>
            <p:cNvSpPr/>
            <p:nvPr/>
          </p:nvSpPr>
          <p:spPr>
            <a:xfrm>
              <a:off x="548640" y="4480560"/>
              <a:ext cx="3566160" cy="1417320"/>
            </a:xfrm>
            <a:prstGeom prst="roundRect">
              <a:avLst>
                <a:gd name="adj" fmla="val 5161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4"/>
            <p:cNvSpPr txBox="1"/>
            <p:nvPr/>
          </p:nvSpPr>
          <p:spPr>
            <a:xfrm>
              <a:off x="731520" y="4553712"/>
              <a:ext cx="320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Calibri"/>
                <a:buNone/>
              </a:pPr>
              <a:r>
                <a:rPr lang="en-US" sz="1200" b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Im Code gerechnet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4"/>
            <p:cNvSpPr txBox="1"/>
            <p:nvPr/>
          </p:nvSpPr>
          <p:spPr>
            <a:xfrm>
              <a:off x="731520" y="4846320"/>
              <a:ext cx="324612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7800" marR="0" lvl="0" indent="-1778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n-US" sz="12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Beginn</a:t>
              </a: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≤ 28 Tage, </a:t>
              </a:r>
              <a:r>
                <a:rPr lang="en-US" sz="12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dringlich</a:t>
              </a: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≤ 14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7800" marR="0" lvl="0" indent="-177800" algn="l" rtl="0">
                <a:spcBef>
                  <a:spcPts val="5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n-US" sz="12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Unterbrechung</a:t>
              </a: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&gt; 14 Tage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7800" marR="0" lvl="0" indent="-177800" algn="l" rtl="0">
                <a:spcBef>
                  <a:spcPts val="5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n-US" sz="12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Pflichtangaben</a:t>
              </a: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2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Verordnungsfall</a:t>
              </a: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(§ 7)</a:t>
              </a:r>
              <a:endParaRPr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8" name="Google Shape;398;p14"/>
          <p:cNvSpPr/>
          <p:nvPr/>
        </p:nvSpPr>
        <p:spPr>
          <a:xfrm>
            <a:off x="4261104" y="1348780"/>
            <a:ext cx="3639312" cy="234539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9D6D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4" descr="Heilmittelkatalog (G-BA) (Ausschnitt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1104" y="1277894"/>
            <a:ext cx="3566160" cy="227224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4"/>
          <p:cNvSpPr txBox="1"/>
          <p:nvPr/>
        </p:nvSpPr>
        <p:spPr>
          <a:xfrm>
            <a:off x="4297680" y="37947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Heilmittelkatalog (G-BA)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4321683" y="4116705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82 Abschnitte · hier: Diagnosegruppe 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66C8A4-86EC-6F6C-D820-BCC9DF699438}"/>
              </a:ext>
            </a:extLst>
          </p:cNvPr>
          <p:cNvGrpSpPr/>
          <p:nvPr/>
        </p:nvGrpSpPr>
        <p:grpSpPr>
          <a:xfrm>
            <a:off x="6128766" y="4434840"/>
            <a:ext cx="3566160" cy="1417320"/>
            <a:chOff x="4297680" y="4480560"/>
            <a:chExt cx="3566160" cy="1417320"/>
          </a:xfrm>
        </p:grpSpPr>
        <p:sp>
          <p:nvSpPr>
            <p:cNvPr id="402" name="Google Shape;402;p14"/>
            <p:cNvSpPr/>
            <p:nvPr/>
          </p:nvSpPr>
          <p:spPr>
            <a:xfrm>
              <a:off x="4297680" y="4480560"/>
              <a:ext cx="3566160" cy="1417320"/>
            </a:xfrm>
            <a:prstGeom prst="roundRect">
              <a:avLst>
                <a:gd name="adj" fmla="val 5161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4"/>
            <p:cNvSpPr txBox="1"/>
            <p:nvPr/>
          </p:nvSpPr>
          <p:spPr>
            <a:xfrm>
              <a:off x="4480560" y="4553712"/>
              <a:ext cx="320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200"/>
                <a:buFont typeface="Calibri"/>
                <a:buNone/>
              </a:pPr>
              <a:r>
                <a:rPr lang="en-US" sz="1200" b="1" dirty="0" err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Im</a:t>
              </a:r>
              <a:r>
                <a:rPr lang="en-US" sz="12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Code </a:t>
              </a:r>
              <a:r>
                <a:rPr lang="en-US" sz="1200" b="1" dirty="0" err="1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gerechnet</a:t>
              </a: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4"/>
            <p:cNvSpPr txBox="1"/>
            <p:nvPr/>
          </p:nvSpPr>
          <p:spPr>
            <a:xfrm>
              <a:off x="4480560" y="4846320"/>
              <a:ext cx="324612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7800" marR="0" lvl="0" indent="-17780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Höchstmenge 6 je Verordnung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7800" marR="0" lvl="0" indent="-177800" algn="l" rtl="0">
                <a:spcBef>
                  <a:spcPts val="5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Leitsymptomatik nur a, b, x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7800" marR="0" lvl="0" indent="-177800" algn="l" rtl="0">
                <a:spcBef>
                  <a:spcPts val="50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Char char="•"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Summe nur vorrangige Heilmittel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14"/>
          <p:cNvSpPr/>
          <p:nvPr/>
        </p:nvSpPr>
        <p:spPr>
          <a:xfrm>
            <a:off x="8010144" y="1421120"/>
            <a:ext cx="3639312" cy="227305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9D6D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14" descr="KBV-Diagnoseliste (Ausschnitt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46720" y="1377295"/>
            <a:ext cx="3566160" cy="2199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4"/>
          <p:cNvSpPr txBox="1"/>
          <p:nvPr/>
        </p:nvSpPr>
        <p:spPr>
          <a:xfrm>
            <a:off x="8046720" y="37947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mbria"/>
              <a:buNone/>
            </a:pPr>
            <a:r>
              <a:rPr lang="en-US" sz="15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KBV-Diagnoseliste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 txBox="1"/>
          <p:nvPr/>
        </p:nvSpPr>
        <p:spPr>
          <a:xfrm>
            <a:off x="8046720" y="4114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62 Abschnitte · hier: S. 12, M75.1 nur bei 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Ausschnitte aus den Originalen: G-BA, HeilM-RL (zuletzt geändert 15.05.2025) und Heilmittelkatalog S. 61; KBV, Diagnoseliste Heilmittel S. 12 · alle frei zugänglich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</a:pPr>
            <a:r>
              <a:rPr lang="en-US" sz="2400" b="1" dirty="0" err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Eingabekanal</a:t>
            </a:r>
            <a:r>
              <a:rPr lang="en-US" sz="24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 und </a:t>
            </a:r>
            <a:r>
              <a:rPr lang="en-US" sz="2400" b="1" dirty="0" err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Gesamtkosten</a:t>
            </a:r>
            <a:r>
              <a:rPr lang="en-US" sz="24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 - Total Cost of Ownership </a:t>
            </a:r>
            <a:r>
              <a:rPr lang="en-US" sz="2400" dirty="0"/>
              <a:t>(</a:t>
            </a:r>
            <a:r>
              <a:rPr lang="en-US" sz="24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TCO)</a:t>
            </a:r>
            <a:endParaRPr sz="2800" dirty="0"/>
          </a:p>
        </p:txBody>
      </p:sp>
      <p:sp>
        <p:nvSpPr>
          <p:cNvPr id="420" name="Google Shape;420;p15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15"/>
          <p:cNvGraphicFramePr/>
          <p:nvPr>
            <p:extLst>
              <p:ext uri="{D42A27DB-BD31-4B8C-83A1-F6EECF244321}">
                <p14:modId xmlns:p14="http://schemas.microsoft.com/office/powerpoint/2010/main" val="656421070"/>
              </p:ext>
            </p:extLst>
          </p:nvPr>
        </p:nvGraphicFramePr>
        <p:xfrm>
          <a:off x="548640" y="1325880"/>
          <a:ext cx="7863825" cy="315472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201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Kanal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Bewertung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Kosten pro Jahr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 (Muster 13)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umgesetzt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Strukturiert, keine Lesefehler; Patientendaten vor dem Modell ersetzt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1.680 €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Eingabe 1,5 min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 (Text oder JSON)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umgesetzt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Schnell für Rückfragen; Freitext braucht Extraktion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2.054 €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Eingabe 2 min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Foto + Vision-KI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Komfortabelste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Eingabe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aber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Test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Ankreuzfelder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oft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falsch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gelesen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983 €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Eingabe 0,5 min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Scan + OCR, E-Mail, Messenger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verworfen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Scan nur mit Scanner am Empfang; Messenger: Gesundheitsdaten bei Meta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823 €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Scan, Eingabe 0,3 min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Praxissoftware /</a:t>
                      </a:r>
                      <a:b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E-Verordnung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Ausblick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Beste Lösung, keine Eingabe; Schnittstelle zur Praxissoftware nötig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b="1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offen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Schnittstelle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4" name="Google Shape;424;p15"/>
          <p:cNvSpPr/>
          <p:nvPr/>
        </p:nvSpPr>
        <p:spPr>
          <a:xfrm>
            <a:off x="8595360" y="1325880"/>
            <a:ext cx="3044952" cy="4572000"/>
          </a:xfrm>
          <a:prstGeom prst="roundRect">
            <a:avLst>
              <a:gd name="adj" fmla="val 2402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8823960" y="14630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Woraus die Kosten bestehen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8823960" y="196596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KI-Kosten, je nach Kanal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8823960" y="222199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70–142 € / Jahr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8823960" y="28346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Plattform (n8n, Supabase), für alle gleich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8823960" y="309067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520 € / Jahr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 txBox="1"/>
          <p:nvPr/>
        </p:nvSpPr>
        <p:spPr>
          <a:xfrm>
            <a:off x="8823960" y="37033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Eingabezeit der Rezeption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8823960" y="3959352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2400"/>
              <a:buFont typeface="Cambria"/>
              <a:buNone/>
            </a:pPr>
            <a:r>
              <a:rPr lang="en-US" sz="2400" b="1">
                <a:solidFill>
                  <a:srgbClr val="E76F51"/>
                </a:solidFill>
                <a:latin typeface="Cambria"/>
                <a:ea typeface="Cambria"/>
                <a:cs typeface="Cambria"/>
                <a:sym typeface="Cambria"/>
              </a:rPr>
              <a:t>218–1.454 € / Jahr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8823960" y="4736592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 Eingabezeit der Rezeption bestimmt die Kosten, nicht die KI.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Basis: 40 Verordnungen pro Woche, ca. 2.080 im Jahr · Eingabezeit zu 20,97 €/h (Folie 9); Eingabezeiten sind Annahmen, im Pilot zu messen · Plattform: n8n Starter und Supabase Pro · ohne einmalige Einrichtung · TCO vom 19.10.2026, Plattformpreise abgerufen am 27.10.2026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 txBox="1"/>
          <p:nvPr/>
        </p:nvSpPr>
        <p:spPr>
          <a:xfrm>
            <a:off x="548640" y="470916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3D3B"/>
              </a:buClr>
              <a:buSzPts val="1300"/>
              <a:buFont typeface="Calibri"/>
              <a:buNone/>
            </a:pPr>
            <a:r>
              <a:rPr lang="en-US" sz="1600" b="1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Warum</a:t>
            </a:r>
            <a:r>
              <a:rPr lang="en-US" sz="1600" b="1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das Formular und nicht der </a:t>
            </a:r>
            <a:r>
              <a:rPr lang="en-US" sz="1600" b="1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günstigste</a:t>
            </a:r>
            <a:r>
              <a:rPr lang="en-US" sz="1600" b="1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Kanal?</a:t>
            </a:r>
            <a:br>
              <a:rPr lang="en-US" sz="1600" b="1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Keine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Lesefehler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, und die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Patientendaten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werden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ersetzt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, bevor das Modell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sie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sieht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Qualität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und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Datenschutz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gehen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vor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– (1.680-983=697) ~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700 €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im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Jahr.</a:t>
            </a:r>
            <a:b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Scan-to-Check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sollte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der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nächste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0" i="0" dirty="0" err="1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logische</a:t>
            </a:r>
            <a:r>
              <a:rPr lang="en-US" sz="1600" b="0" i="0" dirty="0">
                <a:solidFill>
                  <a:srgbClr val="143D3B"/>
                </a:solidFill>
                <a:latin typeface="Calibri"/>
                <a:ea typeface="Calibri"/>
                <a:cs typeface="Calibri"/>
                <a:sym typeface="Calibri"/>
              </a:rPr>
              <a:t> Schritt sein.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Architektur: Regeln rechnet der Code, Sprache das Modell</a:t>
            </a:r>
            <a:endParaRPr sz="2800"/>
          </a:p>
        </p:txBody>
      </p:sp>
      <p:sp>
        <p:nvSpPr>
          <p:cNvPr id="442" name="Google Shape;442;p16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6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548640" y="1325880"/>
            <a:ext cx="2011680" cy="172000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8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6"/>
          <p:cNvSpPr txBox="1"/>
          <p:nvPr/>
        </p:nvSpPr>
        <p:spPr>
          <a:xfrm>
            <a:off x="1371600" y="14630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Eingang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 txBox="1"/>
          <p:nvPr/>
        </p:nvSpPr>
        <p:spPr>
          <a:xfrm>
            <a:off x="731520" y="2100000"/>
            <a:ext cx="169164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 oder Chat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 rot="5400000">
            <a:off x="2569464" y="21120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2811780" y="1325880"/>
            <a:ext cx="2011680" cy="172000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299466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182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6"/>
          <p:cNvSpPr txBox="1"/>
          <p:nvPr/>
        </p:nvSpPr>
        <p:spPr>
          <a:xfrm>
            <a:off x="3634740" y="14630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Erfassen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 txBox="1"/>
          <p:nvPr/>
        </p:nvSpPr>
        <p:spPr>
          <a:xfrm>
            <a:off x="2994660" y="2100000"/>
            <a:ext cx="169164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Patientendaten ersetzen, Angaben ins Schema (Hinweis unten)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 rot="5400000">
            <a:off x="4832604" y="21120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5074920" y="1325880"/>
            <a:ext cx="2011680" cy="1720000"/>
          </a:xfrm>
          <a:prstGeom prst="roundRect">
            <a:avLst>
              <a:gd name="adj" fmla="val 363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5257800" y="146304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9496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 txBox="1"/>
          <p:nvPr/>
        </p:nvSpPr>
        <p:spPr>
          <a:xfrm>
            <a:off x="5897880" y="14630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Fakten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5257800" y="2100000"/>
            <a:ext cx="169164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Fristen, Formate, ICD → Gruppe, Leitsymptomatik, Summen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 rot="5400000">
            <a:off x="7095744" y="21120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7338060" y="1325880"/>
            <a:ext cx="2011680" cy="1720000"/>
          </a:xfrm>
          <a:prstGeom prst="roundRect">
            <a:avLst>
              <a:gd name="adj" fmla="val 363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752094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5810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6"/>
          <p:cNvSpPr txBox="1"/>
          <p:nvPr/>
        </p:nvSpPr>
        <p:spPr>
          <a:xfrm>
            <a:off x="8161020" y="14630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Prüfer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7520940" y="2100000"/>
            <a:ext cx="169164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 · Diagnose · Mengen · Fristen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 rot="5400000">
            <a:off x="9358884" y="2112000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9601200" y="1325880"/>
            <a:ext cx="2011680" cy="1720000"/>
          </a:xfrm>
          <a:prstGeom prst="roundRect">
            <a:avLst>
              <a:gd name="adj" fmla="val 363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9784080" y="146304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21240" y="1600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6"/>
          <p:cNvSpPr txBox="1"/>
          <p:nvPr/>
        </p:nvSpPr>
        <p:spPr>
          <a:xfrm>
            <a:off x="10424160" y="14630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Ampel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 txBox="1"/>
          <p:nvPr/>
        </p:nvSpPr>
        <p:spPr>
          <a:xfrm>
            <a:off x="9784080" y="2100000"/>
            <a:ext cx="169164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grün / gelb / rot, Protokoll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548640" y="3095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Dunkel = Code (deterministisch, getestet) · hell = Sprachmodell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48640" y="4590000"/>
            <a:ext cx="5394960" cy="1610000"/>
          </a:xfrm>
          <a:prstGeom prst="roundRect">
            <a:avLst>
              <a:gd name="adj" fmla="val 355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77240" y="47271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1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2970" y="48528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6"/>
          <p:cNvSpPr txBox="1"/>
          <p:nvPr/>
        </p:nvSpPr>
        <p:spPr>
          <a:xfrm>
            <a:off x="1417320" y="47271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777240" y="5260000"/>
            <a:ext cx="493776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n8n Cloud: Workflow, Formular, Chat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gpt-4.1-mini, text-embedding-3-small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(Frankfurt): Wissensbasis, Protokoll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Exporte, Tests, Doku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6126480" y="4590000"/>
            <a:ext cx="5513832" cy="1610000"/>
          </a:xfrm>
          <a:prstGeom prst="roundRect">
            <a:avLst>
              <a:gd name="adj" fmla="val 355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6355080" y="472716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1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80810" y="48528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6"/>
          <p:cNvSpPr txBox="1"/>
          <p:nvPr/>
        </p:nvSpPr>
        <p:spPr>
          <a:xfrm>
            <a:off x="6995160" y="47271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Leitsatz aus der Evaluation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6355080" y="5260000"/>
            <a:ext cx="507492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Was sich als Regel aufschreiben lässt, rechnet der Code. Das Sprachmodell nur dort, wo Sprachverständnis nötig ist: Freitext erfassen, Regelwerk durchsuchen, Befunde formulieren.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548640" y="3420000"/>
            <a:ext cx="11064240" cy="1060000"/>
          </a:xfrm>
          <a:prstGeom prst="roundRect">
            <a:avLst>
              <a:gd name="adj" fmla="val 3556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2700000" y="3550000"/>
            <a:ext cx="12700" cy="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7000000" y="3550000"/>
            <a:ext cx="12700" cy="5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 txBox="1"/>
          <p:nvPr/>
        </p:nvSpPr>
        <p:spPr>
          <a:xfrm>
            <a:off x="731520" y="3520000"/>
            <a:ext cx="1850000" cy="8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PII-Redaktion</a:t>
            </a:r>
            <a:b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(personenbezogene Daten)</a:t>
            </a:r>
            <a:endParaRPr/>
          </a:p>
          <a:p>
            <a:pPr marL="0" marR="0" lvl="0" indent="0" algn="l" rtl="0">
              <a:spcBef>
                <a:spcPts val="3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vor dem Sprachmodell</a:t>
            </a:r>
            <a:endParaRPr/>
          </a:p>
        </p:txBody>
      </p:sp>
      <p:sp>
        <p:nvSpPr>
          <p:cNvPr id="490" name="Google Shape;490;p16"/>
          <p:cNvSpPr txBox="1"/>
          <p:nvPr/>
        </p:nvSpPr>
        <p:spPr>
          <a:xfrm>
            <a:off x="2880000" y="3530000"/>
            <a:ext cx="3980000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Chat (Freitext)</a:t>
            </a:r>
            <a:endParaRPr/>
          </a:p>
          <a:p>
            <a:pPr marL="0" marR="0" lvl="0" indent="0" algn="l" rtl="0">
              <a:spcBef>
                <a:spcPts val="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NER-Modell bert-base-multilingual-cased-ner-hrl plus Regeln: erkennt Namen auch ohne Rollenwort</a:t>
            </a:r>
            <a:endParaRPr/>
          </a:p>
        </p:txBody>
      </p:sp>
      <p:sp>
        <p:nvSpPr>
          <p:cNvPr id="491" name="Google Shape;491;p16"/>
          <p:cNvSpPr txBox="1"/>
          <p:nvPr/>
        </p:nvSpPr>
        <p:spPr>
          <a:xfrm>
            <a:off x="7180000" y="3530000"/>
            <a:ext cx="4300000" cy="6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Formular (Muster 13)</a:t>
            </a:r>
            <a:endParaRPr/>
          </a:p>
          <a:p>
            <a:pPr marL="0" marR="0" lvl="0" indent="0" algn="l" rtl="0">
              <a:spcBef>
                <a:spcPts val="2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Regelbasiert, Feld für Feld: Identifikatoren werden durch Marker ersetzt, Freitexte entfernt</a:t>
            </a:r>
            <a:endParaRPr/>
          </a:p>
        </p:txBody>
      </p:sp>
      <p:sp>
        <p:nvSpPr>
          <p:cNvPr id="492" name="Google Shape;492;p16"/>
          <p:cNvSpPr txBox="1"/>
          <p:nvPr/>
        </p:nvSpPr>
        <p:spPr>
          <a:xfrm>
            <a:off x="2880000" y="4180000"/>
            <a:ext cx="8600000" cy="2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Cloud-Prototyp heute: Das NER-Modell läuft nur lokal, im Chat greifen dort die Regeln. Echte Daten nur über das Formular.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7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Architekturentscheidung 1: Code oder Sprachmodell?</a:t>
            </a:r>
            <a:endParaRPr sz="2800"/>
          </a:p>
        </p:txBody>
      </p:sp>
      <p:sp>
        <p:nvSpPr>
          <p:cNvPr id="499" name="Google Shape;499;p17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7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2" name="Google Shape;502;p17"/>
          <p:cNvGraphicFramePr/>
          <p:nvPr>
            <p:extLst>
              <p:ext uri="{D42A27DB-BD31-4B8C-83A1-F6EECF244321}">
                <p14:modId xmlns:p14="http://schemas.microsoft.com/office/powerpoint/2010/main" val="2381592073"/>
              </p:ext>
            </p:extLst>
          </p:nvPr>
        </p:nvGraphicFramePr>
        <p:xfrm>
          <a:off x="548640" y="1325880"/>
          <a:ext cx="11091675" cy="374902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374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Aufgabe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Warum nicht das Modell? (Beleg)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Fristen (28 / 14 Tage, Unterbrechung 14 Tage)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Datumsrechnen ist keine Sprachaufgabe; in v1–v3 rechnete das Modell Tage falsch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LANR / BSNR (</a:t>
                      </a:r>
                      <a:r>
                        <a:rPr lang="en-US" sz="1300" b="1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Prüfmerkmale</a:t>
                      </a:r>
                      <a:r>
                        <a:rPr lang="en-US" sz="1300" b="1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9 </a:t>
                      </a:r>
                      <a:r>
                        <a:rPr lang="en-US" sz="1300" b="1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Ziffern</a:t>
                      </a:r>
                      <a:r>
                        <a:rPr lang="en-US" sz="1300" b="1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v1: Modell „prüfte“ Prüfziffern im Kopf → 4 von 7 Fällen falsche Fehler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ICD-Code → Diagnosegruppe (WS / EX)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v3: Modell ordnete einen Knie-Code der Wirbelsäule zu – mit plausibler Begründung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Leitsymptomatik je Diagnosegruppe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23.10.: Modell behauptete „a gibt es bei WS nicht“ → kritischer Fehlalarm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Summen, Ampel, Absetzungsrisiko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Muss nachvollziehbar und prüfbar sein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Freitext erfassen, Regelwerk finden, Befund formulieren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A9D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2A9D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Braucht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Sprachverständnis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–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hier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ist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das Modell stark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3" name="Google Shape;503;p17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Ergebnis: kritische Fehlalarme 12 (v1) → 0 (v4) · Testbatterie 27.10.: 83,1 % im Blindtest, 96,6 % nach fünf weiteren Regeln im Code · 71 automatische Prüfungen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Quellen: docs/evaluation.md, docs/aenderungsprotokoll.md, tests/fakten.test.mjs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Architekturentscheidung 2: Aufbau, Sicherheit, Betrieb</a:t>
            </a:r>
            <a:endParaRPr sz="2800"/>
          </a:p>
        </p:txBody>
      </p:sp>
      <p:sp>
        <p:nvSpPr>
          <p:cNvPr id="513" name="Google Shape;513;p18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8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6" name="Google Shape;516;p18"/>
          <p:cNvGraphicFramePr/>
          <p:nvPr>
            <p:extLst>
              <p:ext uri="{D42A27DB-BD31-4B8C-83A1-F6EECF244321}">
                <p14:modId xmlns:p14="http://schemas.microsoft.com/office/powerpoint/2010/main" val="3489695435"/>
              </p:ext>
            </p:extLst>
          </p:nvPr>
        </p:nvGraphicFramePr>
        <p:xfrm>
          <a:off x="548640" y="1325880"/>
          <a:ext cx="11091675" cy="437995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347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Entscheidung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Warum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Vier spezialisierte Prüfer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 Allround-Agent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Jedes Mandat einzeln testbar; Fehler lassen sich einem Prüfer zuordnen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Patientendaten vor dem Modell ersetzen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Rohdaten an das Modell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Datenminimierung: Die Prüfung braucht keine Namen. Chat: NER-Modell plus Regeln, Formular: Regeln; Original nur im Protokoll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Mensch entscheidet, Ampel ist Empfehlung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Automatische Abweisung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Verantwortung bleibt bei der Praxis; menschliche Aufsicht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Fristen-Prüfer ohne Vektorsuche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Suche wie die anderen Prüfer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 Regel (HeilM-RL § 15, § 16) ist kurz und fest – Suche bringt nur Rauschen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 im selben Workflow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 ruft Chat-Webhook auf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Ablauf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Protokoll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keine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zweite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öffentliche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Adresse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Production Workflow (Backup: v4 </a:t>
                      </a:r>
                      <a:r>
                        <a:rPr lang="en-US" sz="1300" b="1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als</a:t>
                      </a:r>
                      <a:r>
                        <a:rPr lang="en-US" sz="1300" b="1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Fallback </a:t>
                      </a:r>
                      <a:r>
                        <a:rPr lang="en-US" sz="1300" b="1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</a:t>
                      </a:r>
                      <a:r>
                        <a:rPr lang="en-US" sz="1300" b="1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Development Branch)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Nur ein Stand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Vor der Prüfung immer eine lauffähige Rückfallversion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Veröffentlichung erst mit Anmeldung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Offener Chat-Link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Sonst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kann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jeder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dem Link Kosten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erzeugen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7" name="Google Shape;517;p18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Quellen: docs/architektur.md (Trade-offs), docs/implementierung.md (erwogen und verworfen), n8n/README.md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8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EU AI Act: warum kein Hochrisiko-System</a:t>
            </a:r>
            <a:endParaRPr sz="2800"/>
          </a:p>
        </p:txBody>
      </p:sp>
      <p:sp>
        <p:nvSpPr>
          <p:cNvPr id="525" name="Google Shape;525;p19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6" name="Google Shape;526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48640" y="1298448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731520" y="1499616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731520" y="149961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 txBox="1"/>
          <p:nvPr/>
        </p:nvSpPr>
        <p:spPr>
          <a:xfrm>
            <a:off x="1417320" y="140817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KI-System?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1417320" y="177393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Art. 3 Nr.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3840480" y="1572768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5C6B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 txBox="1"/>
          <p:nvPr/>
        </p:nvSpPr>
        <p:spPr>
          <a:xfrm>
            <a:off x="3840480" y="1572768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4709160" y="1371600"/>
            <a:ext cx="676656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Ja: Das Modell leitet aus Eingaben Befunde ab. Wir (Team) sind Anbieter (Art. 3 Nr. 3), die Praxis ist Betreiberin (Art. 3 Nr. 4).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548640" y="2322576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731520" y="2523744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 txBox="1"/>
          <p:nvPr/>
        </p:nvSpPr>
        <p:spPr>
          <a:xfrm>
            <a:off x="731520" y="252374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 txBox="1"/>
          <p:nvPr/>
        </p:nvSpPr>
        <p:spPr>
          <a:xfrm>
            <a:off x="1417320" y="243230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Verbotene Praxis?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 txBox="1"/>
          <p:nvPr/>
        </p:nvSpPr>
        <p:spPr>
          <a:xfrm>
            <a:off x="1417320" y="279806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Art.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3840480" y="2596896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 txBox="1"/>
          <p:nvPr/>
        </p:nvSpPr>
        <p:spPr>
          <a:xfrm>
            <a:off x="3840480" y="2596896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4709160" y="2395728"/>
            <a:ext cx="676656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Nein: keine Manipulation, keine Bewertung von Personen, keine Biometrie oder Emotionserkennung.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548640" y="3346704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731520" y="3547872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 txBox="1"/>
          <p:nvPr/>
        </p:nvSpPr>
        <p:spPr>
          <a:xfrm>
            <a:off x="731520" y="354787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 txBox="1"/>
          <p:nvPr/>
        </p:nvSpPr>
        <p:spPr>
          <a:xfrm>
            <a:off x="1417320" y="345643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Hochrisiko: Produkt?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 txBox="1"/>
          <p:nvPr/>
        </p:nvSpPr>
        <p:spPr>
          <a:xfrm>
            <a:off x="1417320" y="382219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Art. 6 Abs. 1 + Anhang I (MDR)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3840480" y="3621024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3840480" y="3621024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 txBox="1"/>
          <p:nvPr/>
        </p:nvSpPr>
        <p:spPr>
          <a:xfrm>
            <a:off x="4709160" y="3419856"/>
            <a:ext cx="676656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Nein: kein Medizinprodukt. Zweck ist eine formale, administrative Prüfung für die Abrechnung – keine Diagnose oder Therapieentscheidung (Art. 2 Nr. 1 MDR; MDCG 2019-11).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548640" y="4370832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731520" y="4572000"/>
            <a:ext cx="512064" cy="512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731520" y="4572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 txBox="1"/>
          <p:nvPr/>
        </p:nvSpPr>
        <p:spPr>
          <a:xfrm>
            <a:off x="1417320" y="4480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Hochrisiko: Anhang III?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 txBox="1"/>
          <p:nvPr/>
        </p:nvSpPr>
        <p:spPr>
          <a:xfrm>
            <a:off x="1417320" y="48463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Art. 6 Abs.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3840480" y="464515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 txBox="1"/>
          <p:nvPr/>
        </p:nvSpPr>
        <p:spPr>
          <a:xfrm>
            <a:off x="3840480" y="4645152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 txBox="1"/>
          <p:nvPr/>
        </p:nvSpPr>
        <p:spPr>
          <a:xfrm>
            <a:off x="4709160" y="4443984"/>
            <a:ext cx="676656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Nein: Nr. 5 a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erfasst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Behörden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oder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Handeln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deren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Namen), die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über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Ansprüche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auf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öffentliche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Leistungen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entscheiden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Die Praxis,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prüft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ein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Dokument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über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die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Leistung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entscheidet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die Kasse. Nr. 5 c (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Versicherungstarife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und Nr. 4 (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Beschäftigte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125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ebenfalls</a:t>
            </a:r>
            <a:r>
              <a:rPr lang="en-US" sz="12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nicht.</a:t>
            </a:r>
            <a:endParaRPr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548640" y="54406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9"/>
          <p:cNvSpPr txBox="1"/>
          <p:nvPr/>
        </p:nvSpPr>
        <p:spPr>
          <a:xfrm>
            <a:off x="822960" y="5486400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Ergebnis: kein Hochrisiko-KI-System. </a:t>
            </a: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Die Ausnahme nach Art. 6 Abs. 3 (mit Dokumentations- und Registrierungspflicht) brauchen wir nicht, weil kein Anhang-III-Fall vorliegt.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9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0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EU AI Act: Was für uns trotzdem gilt</a:t>
            </a:r>
            <a:endParaRPr sz="2800"/>
          </a:p>
        </p:txBody>
      </p:sp>
      <p:sp>
        <p:nvSpPr>
          <p:cNvPr id="569" name="Google Shape;569;p20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0" name="Google Shape;570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0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2" name="Google Shape;572;p20"/>
          <p:cNvGraphicFramePr/>
          <p:nvPr/>
        </p:nvGraphicFramePr>
        <p:xfrm>
          <a:off x="548640" y="1325880"/>
          <a:ext cx="11091650" cy="379477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448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Pflicht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Seit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Unsere Umsetzung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4 KI-Kompetenz: Anbieter und Betreiber ergreifen Maßnahmen, um die KI-Kompetenz ihres Personals zu fördern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02.02.2025; seit 27.07.2026 als Förderpflicht (KI-Omnibus)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Einweisung von Inhaberin und Rezeption vor dem Parallelbetrieb, dokumentiert: Was kann das System, wo irrt es, wer entscheidet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50 Abs. 1 Transparenz: Nutzer erfahren, dass sie mit einer KI interagieren (entfällt, wenn offensichtlich)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02.08.2026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Formular und Antwort sind als KI-Prüfung gekennzeichnet; Ampel als „Empfehlung, keine Entscheidung“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Pflichten für Hochrisiko-Betreiber (Art. 26)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entfällt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Trotzdem freiwillig übernommen (Art. 95): menschliche Aufsicht, Protokoll jeder Prüfung, Fundstelle je Befund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Pflichten für KI-Modelle mit allgemeinem Verwendungszweck (Art. 53 ff.)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trifft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OpenAI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Nicht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unsere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Pflicht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als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Anbieter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des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Gesamtsystems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Modellwahl</a:t>
                      </a:r>
                      <a:r>
                        <a:rPr lang="en-US" sz="1300" u="none" strike="noStrike" cap="none" dirty="0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u="none" strike="noStrike" cap="none" dirty="0" err="1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dokumentiert</a:t>
                      </a:r>
                      <a:endParaRPr sz="13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3" name="Google Shape;573;p20"/>
          <p:cNvSpPr/>
          <p:nvPr/>
        </p:nvSpPr>
        <p:spPr>
          <a:xfrm>
            <a:off x="548640" y="52578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Zu prüfen vor Echtbetrieb: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Art. 50 Abs. 2 (maschinenlesbare Kennzeichnung erzeugter Inhalte) zielt auf Generatoren synthetischer Inhalte – ob er interne Prüfbefunde erfasst, klären wir.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KI-Verordnung (EU) 2024/1689, geändert durch VO (EU) 2026/1744 (KI-Omnibus, in Kraft seit 27.07.2026) · Quellen im Anhang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1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DSGVO und Berufsgeheimnis</a:t>
            </a:r>
            <a:endParaRPr sz="2800"/>
          </a:p>
        </p:txBody>
      </p:sp>
      <p:sp>
        <p:nvSpPr>
          <p:cNvPr id="583" name="Google Shape;583;p21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4" name="Google Shape;584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1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6" name="Google Shape;586;p21"/>
          <p:cNvGraphicFramePr/>
          <p:nvPr/>
        </p:nvGraphicFramePr>
        <p:xfrm>
          <a:off x="548640" y="1280160"/>
          <a:ext cx="11091675" cy="462985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283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Thema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Umsetzung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Gesundheitsdaten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4 Nr. 15, Art. 9 Abs. 1 DSGVO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Verordnungen sind besonders geschützt; Prototyp nur mit synthetischen Daten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Rechtsgrundlage (Echtbetrieb)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9 Abs. 2 lit. h, Abs. 3 DSGVO i. V. m. § 22 Abs. 1 Nr. 1 lit. b BDSG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Verarbeitung zur Verwaltung im Gesundheitsbereich durch Personal mit Schweigepflicht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Datenminimierung, Datenschutz durch Technik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5 Abs. 1 lit. c, Art. 25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Patientendaten vor dem Modell ersetzt, Pseudonym statt Name; Chat: NER-Modell plus Regeln, Formular: Regeln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Dienstleister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28; § 203 Abs. 3, 4 StGB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Auftragsverarbeitung mit n8n, OpenAI, Supabase; Verpflichtung zur Verschwiegenheit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Drittland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44 ff.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Supabase in Frankfurt; für OpenAI EU-Datenresidenz oder Data Privacy Framework prüfen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Sicherheit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32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Zugriffsschutz auf Zeilenebene, Schlüssel nie im Repository, Anmeldung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Keine automatisierte Entscheidung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22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Die Rezeption entscheidet über jede Verordnung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Folgenabschätzung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35, Erwägungsgrund 91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Vor Echtbetrieb prüfen und dokumentieren (neue Technologie + Gesundheitsdaten)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87" name="Google Shape;587;p21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Physiotherapeutinnen sind Berufsgeheimnisträgerinnen (§ 203 Abs. 1 Nr. 1 StGB) – Dienstleister sind „mitwirkende Personen“: sorgfältig auswählen, zur Verschwiegenheit verpflichten, nur Erforderliches offenbaren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Der Workflow in n8n: vom Formular zur Ampel</a:t>
            </a:r>
            <a:endParaRPr sz="2800"/>
          </a:p>
        </p:txBody>
      </p:sp>
      <p:sp>
        <p:nvSpPr>
          <p:cNvPr id="595" name="Google Shape;595;p22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22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2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 txBox="1"/>
          <p:nvPr/>
        </p:nvSpPr>
        <p:spPr>
          <a:xfrm>
            <a:off x="548640" y="6290000"/>
            <a:ext cx="11064240" cy="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Workflow „Verordnungcheck_gemerged“ in der n8n Cloud · Grüner Beispielfall, Lauf vom 29.10.2026 · Rahmen nach den Zeitstempeln der Ausführung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3" name="Video n8n-Lau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4000" y="1060000"/>
            <a:ext cx="9984000" cy="52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0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3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Bauplan: Alle vier Prüfer sind gleich aufgebaut</a:t>
            </a:r>
            <a:endParaRPr sz="2800"/>
          </a:p>
        </p:txBody>
      </p:sp>
      <p:sp>
        <p:nvSpPr>
          <p:cNvPr id="612" name="Google Shape;612;p23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3" name="Google Shape;613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3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3"/>
          <p:cNvSpPr/>
          <p:nvPr/>
        </p:nvSpPr>
        <p:spPr>
          <a:xfrm>
            <a:off x="548640" y="13258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3"/>
          <p:cNvSpPr/>
          <p:nvPr/>
        </p:nvSpPr>
        <p:spPr>
          <a:xfrm>
            <a:off x="777240" y="1481328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618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3"/>
          <p:cNvSpPr txBox="1"/>
          <p:nvPr/>
        </p:nvSpPr>
        <p:spPr>
          <a:xfrm>
            <a:off x="1463040" y="1481328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Eingabe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3"/>
          <p:cNvSpPr txBox="1"/>
          <p:nvPr/>
        </p:nvSpPr>
        <p:spPr>
          <a:xfrm>
            <a:off x="777240" y="2194560"/>
            <a:ext cx="3154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Verordnung im festen Schema (Patientendaten ersetzt) + berechnete Fakten aus dem Code (verbindlich)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3"/>
          <p:cNvSpPr/>
          <p:nvPr/>
        </p:nvSpPr>
        <p:spPr>
          <a:xfrm rot="5400000">
            <a:off x="4123944" y="2304288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3"/>
          <p:cNvSpPr/>
          <p:nvPr/>
        </p:nvSpPr>
        <p:spPr>
          <a:xfrm>
            <a:off x="4297680" y="13258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4526280" y="1481328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3" name="Google Shape;623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3440" y="1618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3"/>
          <p:cNvSpPr txBox="1"/>
          <p:nvPr/>
        </p:nvSpPr>
        <p:spPr>
          <a:xfrm>
            <a:off x="5212080" y="1481328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Prüf-Agent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 txBox="1"/>
          <p:nvPr/>
        </p:nvSpPr>
        <p:spPr>
          <a:xfrm>
            <a:off x="4526280" y="2194560"/>
            <a:ext cx="3154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gpt-4.1-mini, Temperatur 0,1, max. 6 Schritte, eigenes Mandat im Systemprompt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3"/>
          <p:cNvSpPr/>
          <p:nvPr/>
        </p:nvSpPr>
        <p:spPr>
          <a:xfrm rot="5400000">
            <a:off x="7872984" y="2304288"/>
            <a:ext cx="237744" cy="146304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3"/>
          <p:cNvSpPr/>
          <p:nvPr/>
        </p:nvSpPr>
        <p:spPr>
          <a:xfrm>
            <a:off x="8046720" y="13258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8275320" y="1481328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9" name="Google Shape;629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12480" y="16184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3"/>
          <p:cNvSpPr txBox="1"/>
          <p:nvPr/>
        </p:nvSpPr>
        <p:spPr>
          <a:xfrm>
            <a:off x="8961120" y="1481328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Ausgabe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 txBox="1"/>
          <p:nvPr/>
        </p:nvSpPr>
        <p:spPr>
          <a:xfrm>
            <a:off x="8275320" y="2194560"/>
            <a:ext cx="31546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JSON: Prüfer, Befund je Feld mit Status, Fundstelle, Korrekturhinweis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548640" y="3611880"/>
            <a:ext cx="5394960" cy="2286000"/>
          </a:xfrm>
          <a:prstGeom prst="roundRect">
            <a:avLst>
              <a:gd name="adj" fmla="val 32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3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2970" y="38747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23"/>
          <p:cNvSpPr txBox="1"/>
          <p:nvPr/>
        </p:nvSpPr>
        <p:spPr>
          <a:xfrm>
            <a:off x="1417320" y="37490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Werkzeug „Regelwerk“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 txBox="1"/>
          <p:nvPr/>
        </p:nvSpPr>
        <p:spPr>
          <a:xfrm>
            <a:off x="777240" y="434340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Vektorsuche in Supabase, 5 Treffer, je Prüfer eigener Ausschnitt der Wissensbasis. Der Fristen-Prüfer braucht keine Suche – seine Regel steht fest.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6126480" y="3611880"/>
            <a:ext cx="5513832" cy="2286000"/>
          </a:xfrm>
          <a:prstGeom prst="roundRect">
            <a:avLst>
              <a:gd name="adj" fmla="val 32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 txBox="1"/>
          <p:nvPr/>
        </p:nvSpPr>
        <p:spPr>
          <a:xfrm>
            <a:off x="6400800" y="374904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Gemeinsame Regeln für alle Prüfer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 txBox="1"/>
          <p:nvPr/>
        </p:nvSpPr>
        <p:spPr>
          <a:xfrm>
            <a:off x="6400800" y="425196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Nur das eigene Mandat prüfen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Keine Paragrafen erfinden – jede Regel mit Fundstelle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Keine Fundstelle gefunden: höchstens „Hinweis“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Berechnete Fakten haben Vorrang vor eigener Einschätzung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Die vier Prüfer: wer prüft was</a:t>
            </a:r>
            <a:endParaRPr sz="2800"/>
          </a:p>
        </p:txBody>
      </p:sp>
      <p:sp>
        <p:nvSpPr>
          <p:cNvPr id="647" name="Google Shape;647;p24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8" name="Google Shape;648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4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50" name="Google Shape;650;p24"/>
          <p:cNvGraphicFramePr/>
          <p:nvPr/>
        </p:nvGraphicFramePr>
        <p:xfrm>
          <a:off x="548640" y="1325880"/>
          <a:ext cx="11091675" cy="365762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128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Prüfer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Mandat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Fakten aus dem 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Beispiel aus dem Test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Vollständigkeit der Pflichtangaben (10 Felder, HeilM-RL § 13)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Pflichtangaben ja/nein, LANR/BSNR-Format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LANR und Leitsymptomatik fehlen → rot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Diagnose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ICD-Code ↔ Diagnosegruppe, Leitsymptomatik, besonderer Verordnungsbedarf (KBV-Liste)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Passende Gruppe zum ICD-Code, Leitsymptomatik zulässig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Schulter-Code mit Wirbelsäulen-Gruppe → rot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Mengen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Höchstmenge je Verordnung, max. 3 vorrangige Heilmittel, Frequenz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Summe vorrangiger Einheiten, Anzahl Heilmittel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Einheiten bei Wirbelsäule → rot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Fristen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Behandlungsbeginn, Unterbrechung (HeilM-RL § 15, § 16)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Tage bis Beginn, Grenze 28/14, Unterbrechung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Beginn nach 41 Tagen → rot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51" name="Google Shape;651;p24"/>
          <p:cNvSpPr/>
          <p:nvPr/>
        </p:nvSpPr>
        <p:spPr>
          <a:xfrm>
            <a:off x="548640" y="516636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 txBox="1"/>
          <p:nvPr/>
        </p:nvSpPr>
        <p:spPr>
          <a:xfrm>
            <a:off x="822960" y="52578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Sprint 2 – Verordnungsfall-Prüfung: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 Mengen-Prüfer bekommt die Summe aller Einheiten im Verordnungsfall (§ 7 HeilM-RL) als Fakt. Das deckt die Folgeverordnungen ab – 90 % der Fehler.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5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Live-Demo: eine Verordnung in 30 Sekunden prüfen</a:t>
            </a:r>
            <a:endParaRPr sz="2800"/>
          </a:p>
        </p:txBody>
      </p:sp>
      <p:sp>
        <p:nvSpPr>
          <p:cNvPr id="660" name="Google Shape;660;p25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p2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5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/>
          <p:nvPr/>
        </p:nvSpPr>
        <p:spPr>
          <a:xfrm>
            <a:off x="548640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5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5" name="Google Shape;665;p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5830" y="179451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5"/>
          <p:cNvSpPr txBox="1"/>
          <p:nvPr/>
        </p:nvSpPr>
        <p:spPr>
          <a:xfrm>
            <a:off x="777240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· Formular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 txBox="1"/>
          <p:nvPr/>
        </p:nvSpPr>
        <p:spPr>
          <a:xfrm>
            <a:off x="777240" y="27889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Muster 13 ausfüllen (synthetische Daten)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/>
          <p:nvPr/>
        </p:nvSpPr>
        <p:spPr>
          <a:xfrm>
            <a:off x="3355848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/>
          <p:nvPr/>
        </p:nvSpPr>
        <p:spPr>
          <a:xfrm>
            <a:off x="3584448" y="1645920"/>
            <a:ext cx="594360" cy="5943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0" name="Google Shape;670;p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33038" y="179451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5"/>
          <p:cNvSpPr txBox="1"/>
          <p:nvPr/>
        </p:nvSpPr>
        <p:spPr>
          <a:xfrm>
            <a:off x="3584448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· Prüfen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 txBox="1"/>
          <p:nvPr/>
        </p:nvSpPr>
        <p:spPr>
          <a:xfrm>
            <a:off x="3584448" y="27889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vier Prüfer laufen nacheinander, ca. 30–35 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/>
          <p:nvPr/>
        </p:nvSpPr>
        <p:spPr>
          <a:xfrm>
            <a:off x="6163056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5"/>
          <p:cNvSpPr/>
          <p:nvPr/>
        </p:nvSpPr>
        <p:spPr>
          <a:xfrm>
            <a:off x="6391656" y="1645920"/>
            <a:ext cx="594360" cy="5943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5" name="Google Shape;675;p2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0246" y="179451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 txBox="1"/>
          <p:nvPr/>
        </p:nvSpPr>
        <p:spPr>
          <a:xfrm>
            <a:off x="6391656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· Ergebnis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5"/>
          <p:cNvSpPr txBox="1"/>
          <p:nvPr/>
        </p:nvSpPr>
        <p:spPr>
          <a:xfrm>
            <a:off x="6391656" y="27889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Ampel, Korrekturhinweis, Fundstelle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5"/>
          <p:cNvSpPr/>
          <p:nvPr/>
        </p:nvSpPr>
        <p:spPr>
          <a:xfrm>
            <a:off x="8970264" y="14630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5"/>
          <p:cNvSpPr/>
          <p:nvPr/>
        </p:nvSpPr>
        <p:spPr>
          <a:xfrm>
            <a:off x="9198864" y="1645920"/>
            <a:ext cx="594360" cy="5943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2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47454" y="179451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5"/>
          <p:cNvSpPr txBox="1"/>
          <p:nvPr/>
        </p:nvSpPr>
        <p:spPr>
          <a:xfrm>
            <a:off x="9198864" y="2377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libri"/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 · Protokoll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5"/>
          <p:cNvSpPr txBox="1"/>
          <p:nvPr/>
        </p:nvSpPr>
        <p:spPr>
          <a:xfrm>
            <a:off x="9198864" y="27889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Prüfung und Befunde in Supabase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5"/>
          <p:cNvSpPr/>
          <p:nvPr/>
        </p:nvSpPr>
        <p:spPr>
          <a:xfrm>
            <a:off x="548640" y="4114800"/>
            <a:ext cx="11091672" cy="1737360"/>
          </a:xfrm>
          <a:prstGeom prst="roundRect">
            <a:avLst>
              <a:gd name="adj" fmla="val 421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5"/>
          <p:cNvSpPr txBox="1"/>
          <p:nvPr/>
        </p:nvSpPr>
        <p:spPr>
          <a:xfrm>
            <a:off x="822960" y="42245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Demo-Fälle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5"/>
          <p:cNvSpPr/>
          <p:nvPr/>
        </p:nvSpPr>
        <p:spPr>
          <a:xfrm>
            <a:off x="868680" y="4736592"/>
            <a:ext cx="219456" cy="21945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 txBox="1"/>
          <p:nvPr/>
        </p:nvSpPr>
        <p:spPr>
          <a:xfrm>
            <a:off x="1234440" y="4681728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Grün: Gonarthrose, EX, 6× KG, fristgerecht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5"/>
          <p:cNvSpPr/>
          <p:nvPr/>
        </p:nvSpPr>
        <p:spPr>
          <a:xfrm>
            <a:off x="868680" y="5102352"/>
            <a:ext cx="219456" cy="21945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5"/>
          <p:cNvSpPr txBox="1"/>
          <p:nvPr/>
        </p:nvSpPr>
        <p:spPr>
          <a:xfrm>
            <a:off x="1234440" y="5047488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Rot: Schulter-Code mit Wirbelsäulen-Gruppe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5"/>
          <p:cNvSpPr/>
          <p:nvPr/>
        </p:nvSpPr>
        <p:spPr>
          <a:xfrm>
            <a:off x="868680" y="5468112"/>
            <a:ext cx="219456" cy="219456"/>
          </a:xfrm>
          <a:prstGeom prst="ellipse">
            <a:avLst/>
          </a:prstGeom>
          <a:solidFill>
            <a:srgbClr val="5C6B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1234440" y="5413248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Formular: tobsi1911.app.n8n.cloud/form/verordnungs-check-cloud · Rückfall: Backup-Video, Screenshots je Ampelfarbe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r>
              <a:rPr lang="de-DE"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Testbatterie: 100 synthetische Fälle, sauber getrennt</a:t>
            </a:r>
            <a:endParaRPr sz="2800"/>
          </a:p>
        </p:txBody>
      </p:sp>
      <p:sp>
        <p:nvSpPr>
          <p:cNvPr id="734" name="Google Shape;734;p28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5" name="Google Shape;735;p2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8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8"/>
          <p:cNvSpPr/>
          <p:nvPr/>
        </p:nvSpPr>
        <p:spPr>
          <a:xfrm>
            <a:off x="548640" y="13258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8"/>
          <p:cNvSpPr txBox="1"/>
          <p:nvPr/>
        </p:nvSpPr>
        <p:spPr>
          <a:xfrm>
            <a:off x="777240" y="14630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Evaluation (Holdout)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8"/>
          <p:cNvSpPr txBox="1"/>
          <p:nvPr/>
        </p:nvSpPr>
        <p:spPr>
          <a:xfrm>
            <a:off x="777240" y="187452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Cambria"/>
              <a:buNone/>
            </a:pPr>
            <a:r>
              <a:rPr lang="en-US" sz="54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65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8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nie zum Nachbessern verwendet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8"/>
          <p:cNvSpPr/>
          <p:nvPr/>
        </p:nvSpPr>
        <p:spPr>
          <a:xfrm>
            <a:off x="3291840" y="132588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8"/>
          <p:cNvSpPr txBox="1"/>
          <p:nvPr/>
        </p:nvSpPr>
        <p:spPr>
          <a:xfrm>
            <a:off x="3520440" y="14630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Entwicklung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8"/>
          <p:cNvSpPr txBox="1"/>
          <p:nvPr/>
        </p:nvSpPr>
        <p:spPr>
          <a:xfrm>
            <a:off x="3520440" y="187452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Cambria"/>
              <a:buNone/>
            </a:pPr>
            <a:r>
              <a:rPr lang="en-US" sz="5400" b="1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35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8"/>
          <p:cNvSpPr txBox="1"/>
          <p:nvPr/>
        </p:nvSpPr>
        <p:spPr>
          <a:xfrm>
            <a:off x="3520440" y="28346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darf zum Nachbessern genutzt werden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8"/>
          <p:cNvSpPr/>
          <p:nvPr/>
        </p:nvSpPr>
        <p:spPr>
          <a:xfrm>
            <a:off x="6035040" y="1325880"/>
            <a:ext cx="5605272" cy="2377440"/>
          </a:xfrm>
          <a:prstGeom prst="roundRect">
            <a:avLst>
              <a:gd name="adj" fmla="val 307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8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Evaluationsset (65 Fälle)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8"/>
          <p:cNvSpPr/>
          <p:nvPr/>
        </p:nvSpPr>
        <p:spPr>
          <a:xfrm>
            <a:off x="6309360" y="205740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8"/>
          <p:cNvSpPr txBox="1"/>
          <p:nvPr/>
        </p:nvSpPr>
        <p:spPr>
          <a:xfrm>
            <a:off x="6720840" y="19842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8"/>
          <p:cNvSpPr txBox="1"/>
          <p:nvPr/>
        </p:nvSpPr>
        <p:spPr>
          <a:xfrm>
            <a:off x="6309360" y="25603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grün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Vorgabe ≥ 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7635240" y="2057400"/>
            <a:ext cx="310896" cy="310896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8"/>
          <p:cNvSpPr txBox="1"/>
          <p:nvPr/>
        </p:nvSpPr>
        <p:spPr>
          <a:xfrm>
            <a:off x="8046720" y="19842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8"/>
          <p:cNvSpPr txBox="1"/>
          <p:nvPr/>
        </p:nvSpPr>
        <p:spPr>
          <a:xfrm>
            <a:off x="7635240" y="25603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gelb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Vorgabe ≥ 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8"/>
          <p:cNvSpPr/>
          <p:nvPr/>
        </p:nvSpPr>
        <p:spPr>
          <a:xfrm>
            <a:off x="8961120" y="2057400"/>
            <a:ext cx="310896" cy="310896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8"/>
          <p:cNvSpPr txBox="1"/>
          <p:nvPr/>
        </p:nvSpPr>
        <p:spPr>
          <a:xfrm>
            <a:off x="9372600" y="19842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8"/>
          <p:cNvSpPr txBox="1"/>
          <p:nvPr/>
        </p:nvSpPr>
        <p:spPr>
          <a:xfrm>
            <a:off x="8961120" y="25603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Vorgabe ≥ 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8"/>
          <p:cNvSpPr/>
          <p:nvPr/>
        </p:nvSpPr>
        <p:spPr>
          <a:xfrm>
            <a:off x="10287000" y="2057400"/>
            <a:ext cx="310896" cy="310896"/>
          </a:xfrm>
          <a:prstGeom prst="ellipse">
            <a:avLst/>
          </a:prstGeom>
          <a:solidFill>
            <a:srgbClr val="5C6B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8"/>
          <p:cNvSpPr txBox="1"/>
          <p:nvPr/>
        </p:nvSpPr>
        <p:spPr>
          <a:xfrm>
            <a:off x="10698480" y="19842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8"/>
          <p:cNvSpPr txBox="1"/>
          <p:nvPr/>
        </p:nvSpPr>
        <p:spPr>
          <a:xfrm>
            <a:off x="10287000" y="2560320"/>
            <a:ext cx="1280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Grenzfall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Vorgabe ≥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8"/>
          <p:cNvSpPr txBox="1"/>
          <p:nvPr/>
        </p:nvSpPr>
        <p:spPr>
          <a:xfrm>
            <a:off x="6309360" y="3246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 Fälle je Prüfer ≥ 5: Formal 10, Diagnose 10, Mengen 9, Fristen 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0" name="Google Shape;760;p28"/>
          <p:cNvGraphicFramePr/>
          <p:nvPr/>
        </p:nvGraphicFramePr>
        <p:xfrm>
          <a:off x="548640" y="3931920"/>
          <a:ext cx="11091675" cy="202995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Warum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Soll-Werte aus den Regelwerken abgeleitet, Vier-Augen-Prüfung im Team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Referenzstandard sind nur die Regelwerke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Keine ICD-Codes aus Testfällen in Prompts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Kein Lernen auf den Test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Festes Prüfdatum 26.10.2026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Fristen bei jedem Lauf gleich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 Lauf: 123 Fälle, 253 Prüfungen, ca. 45 min, ca. 3 Cent je Prüfung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Stabilität statt Einzelergebnis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1" name="Google Shape;761;p28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Alle 123 Fälle in Supabase (100 Testbatterie + 23 Prüfvorlage), Ergebnisse in testlaeufe · 10 Fälle brauchen die Verordnungsfall-Prüfung und sind noch nicht gewertet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8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7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Erfolgsmessung: Ergebnis der Testbatterie</a:t>
            </a:r>
            <a:endParaRPr sz="2800"/>
          </a:p>
        </p:txBody>
      </p:sp>
      <p:sp>
        <p:nvSpPr>
          <p:cNvPr id="715" name="Google Shape;715;p27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6" name="Google Shape;716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27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548640" y="132588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0" name="Google Shape;720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012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27"/>
          <p:cNvSpPr txBox="1"/>
          <p:nvPr/>
        </p:nvSpPr>
        <p:spPr>
          <a:xfrm>
            <a:off x="1508760" y="15087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Ergebnis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7"/>
          <p:cNvSpPr txBox="1"/>
          <p:nvPr/>
        </p:nvSpPr>
        <p:spPr>
          <a:xfrm>
            <a:off x="822960" y="228600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Cambria"/>
              <a:buNone/>
            </a:pPr>
            <a:r>
              <a:rPr lang="en-US" sz="60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96,6 %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7"/>
          <p:cNvSpPr txBox="1"/>
          <p:nvPr/>
        </p:nvSpPr>
        <p:spPr>
          <a:xfrm>
            <a:off x="822960" y="33832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richtige Ampel auf 59 Fällen × 3 Läufe (Ziel ≥ 98 %); im Blindtest vorher 83,1 %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7"/>
          <p:cNvSpPr txBox="1"/>
          <p:nvPr/>
        </p:nvSpPr>
        <p:spPr>
          <a:xfrm>
            <a:off x="822960" y="50292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Bewertung: bedingt bereit (95–98 %) · nicht bereit: &lt; 95 %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5" name="Google Shape;725;p27"/>
          <p:cNvGraphicFramePr/>
          <p:nvPr/>
        </p:nvGraphicFramePr>
        <p:xfrm>
          <a:off x="4297680" y="1325880"/>
          <a:ext cx="7342625" cy="414227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292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Kriterium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Ergebnis (Lauf 1 → Lauf 2 + Nachtest)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Übersehene rote Verordnungen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→ 0 ✓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Kritische Fehlalarme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1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→ 1 ✓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Verordnungsfall-Summe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100 % exakt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noch nicht umgesetzt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Fundstelle je Befund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97 % → 99 %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Stabilität über 3 Läufe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95 %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94,9 % → 96,6 % ✓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Laufzeit / Kosten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30 s / ≤ 5 Cent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34 s ✗ / ca. 3 Cent ✓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6" name="Google Shape;726;p27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Zielwert 98 % nach Rückmeldung der Instruktorin am 19.10.2026 (vorher 90 % auf 12 Fällen) · Referenzstandard: ausschließlich die Regelwerke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7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9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Einsatzplanung: vom Parallelbetrieb zum Regelbetrieb</a:t>
            </a:r>
            <a:endParaRPr sz="2800"/>
          </a:p>
        </p:txBody>
      </p:sp>
      <p:sp>
        <p:nvSpPr>
          <p:cNvPr id="769" name="Google Shape;769;p29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0" name="Google Shape;770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9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548640" y="132588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9"/>
          <p:cNvSpPr txBox="1"/>
          <p:nvPr/>
        </p:nvSpPr>
        <p:spPr>
          <a:xfrm>
            <a:off x="777240" y="14630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0 · Vorbereitung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777240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9"/>
          <p:cNvSpPr txBox="1"/>
          <p:nvPr/>
        </p:nvSpPr>
        <p:spPr>
          <a:xfrm>
            <a:off x="777240" y="193852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Wochen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9"/>
          <p:cNvSpPr txBox="1"/>
          <p:nvPr/>
        </p:nvSpPr>
        <p:spPr>
          <a:xfrm>
            <a:off x="777240" y="242316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Anmeldung aktiv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Auftragsverarbeitung, Verschwiegenheit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Einweisung (KI-Kompetenz, Art. 4)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9"/>
          <p:cNvSpPr txBox="1"/>
          <p:nvPr/>
        </p:nvSpPr>
        <p:spPr>
          <a:xfrm>
            <a:off x="777240" y="4069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Weiter, wenn: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9"/>
          <p:cNvSpPr txBox="1"/>
          <p:nvPr/>
        </p:nvSpPr>
        <p:spPr>
          <a:xfrm>
            <a:off x="777240" y="431596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Datenschutz freigegeben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9"/>
          <p:cNvSpPr/>
          <p:nvPr/>
        </p:nvSpPr>
        <p:spPr>
          <a:xfrm>
            <a:off x="3355848" y="132588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9"/>
          <p:cNvSpPr txBox="1"/>
          <p:nvPr/>
        </p:nvSpPr>
        <p:spPr>
          <a:xfrm>
            <a:off x="3584448" y="14630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1 · Parallelbetrieb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9"/>
          <p:cNvSpPr/>
          <p:nvPr/>
        </p:nvSpPr>
        <p:spPr>
          <a:xfrm>
            <a:off x="3584448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9"/>
          <p:cNvSpPr txBox="1"/>
          <p:nvPr/>
        </p:nvSpPr>
        <p:spPr>
          <a:xfrm>
            <a:off x="3584448" y="193852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 Wochen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9"/>
          <p:cNvSpPr txBox="1"/>
          <p:nvPr/>
        </p:nvSpPr>
        <p:spPr>
          <a:xfrm>
            <a:off x="3584448" y="242316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Rezeption prüft wie bisher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läuft mit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Abweichungen werden protokolliert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9"/>
          <p:cNvSpPr txBox="1"/>
          <p:nvPr/>
        </p:nvSpPr>
        <p:spPr>
          <a:xfrm>
            <a:off x="3584448" y="4069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Weiter, wenn: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9"/>
          <p:cNvSpPr txBox="1"/>
          <p:nvPr/>
        </p:nvSpPr>
        <p:spPr>
          <a:xfrm>
            <a:off x="3584448" y="431596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≥ 98 % Übereinstimmung, 0 übersehene rote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29"/>
          <p:cNvSpPr/>
          <p:nvPr/>
        </p:nvSpPr>
        <p:spPr>
          <a:xfrm>
            <a:off x="6163056" y="132588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9"/>
          <p:cNvSpPr txBox="1"/>
          <p:nvPr/>
        </p:nvSpPr>
        <p:spPr>
          <a:xfrm>
            <a:off x="6391656" y="14630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2 · Unterstützt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9"/>
          <p:cNvSpPr/>
          <p:nvPr/>
        </p:nvSpPr>
        <p:spPr>
          <a:xfrm>
            <a:off x="6391656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9"/>
          <p:cNvSpPr txBox="1"/>
          <p:nvPr/>
        </p:nvSpPr>
        <p:spPr>
          <a:xfrm>
            <a:off x="6391656" y="193852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bis Ende Q2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9"/>
          <p:cNvSpPr txBox="1"/>
          <p:nvPr/>
        </p:nvSpPr>
        <p:spPr>
          <a:xfrm>
            <a:off x="6391656" y="242316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prüft zuerst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Mensch bestätigt die Ampel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Schlussprüfung bleibt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9"/>
          <p:cNvSpPr txBox="1"/>
          <p:nvPr/>
        </p:nvSpPr>
        <p:spPr>
          <a:xfrm>
            <a:off x="6391656" y="4069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Weiter, wenn: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9"/>
          <p:cNvSpPr txBox="1"/>
          <p:nvPr/>
        </p:nvSpPr>
        <p:spPr>
          <a:xfrm>
            <a:off x="6391656" y="431596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Prüfzeit −50 %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9"/>
          <p:cNvSpPr/>
          <p:nvPr/>
        </p:nvSpPr>
        <p:spPr>
          <a:xfrm>
            <a:off x="8970264" y="132588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9"/>
          <p:cNvSpPr txBox="1"/>
          <p:nvPr/>
        </p:nvSpPr>
        <p:spPr>
          <a:xfrm>
            <a:off x="9198864" y="146304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3 · Regelbetrieb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9"/>
          <p:cNvSpPr/>
          <p:nvPr/>
        </p:nvSpPr>
        <p:spPr>
          <a:xfrm>
            <a:off x="9198864" y="193852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9"/>
          <p:cNvSpPr txBox="1"/>
          <p:nvPr/>
        </p:nvSpPr>
        <p:spPr>
          <a:xfrm>
            <a:off x="9198864" y="1938528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 Q3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9"/>
          <p:cNvSpPr txBox="1"/>
          <p:nvPr/>
        </p:nvSpPr>
        <p:spPr>
          <a:xfrm>
            <a:off x="9198864" y="2423160"/>
            <a:ext cx="22402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Doppelabrechnungs-Prüfung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Foto-Upload der Verordnung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Monatlicher Qualitätsbericht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9"/>
          <p:cNvSpPr txBox="1"/>
          <p:nvPr/>
        </p:nvSpPr>
        <p:spPr>
          <a:xfrm>
            <a:off x="9198864" y="40690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Calibri"/>
              <a:buNone/>
            </a:pPr>
            <a:r>
              <a:rPr lang="en-US" sz="11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Weiter, wenn: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9"/>
          <p:cNvSpPr txBox="1"/>
          <p:nvPr/>
        </p:nvSpPr>
        <p:spPr>
          <a:xfrm>
            <a:off x="9198864" y="4315968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Prüfzeit −75 %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9"/>
          <p:cNvSpPr/>
          <p:nvPr/>
        </p:nvSpPr>
        <p:spPr>
          <a:xfrm>
            <a:off x="548640" y="51663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9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2" name="Google Shape;802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80" y="5394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9"/>
          <p:cNvSpPr txBox="1"/>
          <p:nvPr/>
        </p:nvSpPr>
        <p:spPr>
          <a:xfrm>
            <a:off x="1463040" y="5257800"/>
            <a:ext cx="9966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Verantwortlich in der Praxis: Inhaberin · Parallelbetrieb von der Praxis zugesagt (Field Study) · Rückfallebene: Prüfung wie heute, ohne System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9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Phasen entsprechen dem Einsparziel 50 % / 75 % · Dauer der Phasen noch mit der Praxis abzustimmen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9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0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Risiken und nächste Schritte</a:t>
            </a:r>
            <a:endParaRPr sz="2800"/>
          </a:p>
        </p:txBody>
      </p:sp>
      <p:sp>
        <p:nvSpPr>
          <p:cNvPr id="812" name="Google Shape;812;p30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30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5" name="Google Shape;815;p30"/>
          <p:cNvGraphicFramePr/>
          <p:nvPr/>
        </p:nvGraphicFramePr>
        <p:xfrm>
          <a:off x="548640" y="1325880"/>
          <a:ext cx="6949450" cy="4142275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Risiko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Gegenmaßnahme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6F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 irrt, klingt aber plausibel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Regeln im Code, Fundstelle Pflicht, Mensch entscheidet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Tabellen aus PDF werden falsch gelesen (KBV-Liste)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KBV-Einträge für WS/EX als Tabelle im Code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Historie unvollständig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Einmaliger Import laufender Fälle; Fallprüfung nur als Hinweis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Regelwerk ändert sich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Wissensbasis neu laden (KBV-Liste jährlich), Stand anzeigen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Modellantwort passt nicht ins Schema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Automatische Wiederholung („Retry on Fail“)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Akzeptanz an der Rezeption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Parallelbetrieb, Einweisung, wenige Fehlalarme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6" name="Google Shape;816;p30"/>
          <p:cNvSpPr/>
          <p:nvPr/>
        </p:nvSpPr>
        <p:spPr>
          <a:xfrm>
            <a:off x="7680960" y="1325880"/>
            <a:ext cx="3959352" cy="4572000"/>
          </a:xfrm>
          <a:prstGeom prst="roundRect">
            <a:avLst>
              <a:gd name="adj" fmla="val 184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0"/>
          <p:cNvSpPr txBox="1"/>
          <p:nvPr/>
        </p:nvSpPr>
        <p:spPr>
          <a:xfrm>
            <a:off x="7955280" y="14630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Nächste Schritte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0"/>
          <p:cNvSpPr txBox="1"/>
          <p:nvPr/>
        </p:nvSpPr>
        <p:spPr>
          <a:xfrm>
            <a:off x="7955280" y="205740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Sprint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0"/>
          <p:cNvSpPr txBox="1"/>
          <p:nvPr/>
        </p:nvSpPr>
        <p:spPr>
          <a:xfrm>
            <a:off x="9281160" y="20574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Verordnungsfall-Prüfung (v5)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0"/>
          <p:cNvSpPr txBox="1"/>
          <p:nvPr/>
        </p:nvSpPr>
        <p:spPr>
          <a:xfrm>
            <a:off x="7955280" y="278892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27.10.</a:t>
            </a: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4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0"/>
          <p:cNvSpPr txBox="1"/>
          <p:nvPr/>
        </p:nvSpPr>
        <p:spPr>
          <a:xfrm>
            <a:off x="9281160" y="27889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Evaluation: 2 Läufe + Nachtest 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0"/>
          <p:cNvSpPr txBox="1"/>
          <p:nvPr/>
        </p:nvSpPr>
        <p:spPr>
          <a:xfrm>
            <a:off x="7955280" y="352044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02.11.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0"/>
          <p:cNvSpPr txBox="1"/>
          <p:nvPr/>
        </p:nvSpPr>
        <p:spPr>
          <a:xfrm>
            <a:off x="9281160" y="352044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Generalprobe 3 × 10 min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0"/>
          <p:cNvSpPr txBox="1"/>
          <p:nvPr/>
        </p:nvSpPr>
        <p:spPr>
          <a:xfrm>
            <a:off x="7955280" y="42519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0"/>
          <p:cNvSpPr txBox="1"/>
          <p:nvPr/>
        </p:nvSpPr>
        <p:spPr>
          <a:xfrm>
            <a:off x="7955280" y="498348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05.11.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0"/>
          <p:cNvSpPr txBox="1"/>
          <p:nvPr/>
        </p:nvSpPr>
        <p:spPr>
          <a:xfrm>
            <a:off x="9281160" y="49834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IHK-Prüfung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0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31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Reflexion: Was wir gelernt haben</a:t>
            </a:r>
            <a:endParaRPr sz="2800"/>
          </a:p>
        </p:txBody>
      </p:sp>
      <p:sp>
        <p:nvSpPr>
          <p:cNvPr id="835" name="Google Shape;835;p31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31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1"/>
          <p:cNvSpPr/>
          <p:nvPr/>
        </p:nvSpPr>
        <p:spPr>
          <a:xfrm>
            <a:off x="548640" y="1325880"/>
            <a:ext cx="3611880" cy="2103120"/>
          </a:xfrm>
          <a:prstGeom prst="roundRect">
            <a:avLst>
              <a:gd name="adj" fmla="val 34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1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1"/>
          <p:cNvSpPr txBox="1"/>
          <p:nvPr/>
        </p:nvSpPr>
        <p:spPr>
          <a:xfrm>
            <a:off x="1463040" y="150876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Fehler finden war leicht, Fehlalarme senken war die Arbeit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1"/>
          <p:cNvSpPr txBox="1"/>
          <p:nvPr/>
        </p:nvSpPr>
        <p:spPr>
          <a:xfrm>
            <a:off x="777240" y="2423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Baseline: alle 8 Fehler erkannt, aber 12 kritische Fehlalarme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1"/>
          <p:cNvSpPr/>
          <p:nvPr/>
        </p:nvSpPr>
        <p:spPr>
          <a:xfrm>
            <a:off x="4343400" y="1325880"/>
            <a:ext cx="3611880" cy="2103120"/>
          </a:xfrm>
          <a:prstGeom prst="roundRect">
            <a:avLst>
              <a:gd name="adj" fmla="val 34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1"/>
          <p:cNvSpPr/>
          <p:nvPr/>
        </p:nvSpPr>
        <p:spPr>
          <a:xfrm>
            <a:off x="4572000" y="1554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9160" y="1691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31"/>
          <p:cNvSpPr txBox="1"/>
          <p:nvPr/>
        </p:nvSpPr>
        <p:spPr>
          <a:xfrm>
            <a:off x="5257800" y="150876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Regeln gehören in den Code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1"/>
          <p:cNvSpPr txBox="1"/>
          <p:nvPr/>
        </p:nvSpPr>
        <p:spPr>
          <a:xfrm>
            <a:off x="4572000" y="2423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Bestätigt durch die Testbatterie: 83,1 % → 96,6 % allein durch fünf Regeln im Code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1"/>
          <p:cNvSpPr/>
          <p:nvPr/>
        </p:nvSpPr>
        <p:spPr>
          <a:xfrm>
            <a:off x="548640" y="3611880"/>
            <a:ext cx="3611880" cy="2103120"/>
          </a:xfrm>
          <a:prstGeom prst="roundRect">
            <a:avLst>
              <a:gd name="adj" fmla="val 34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1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0" name="Google Shape;850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3977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31"/>
          <p:cNvSpPr txBox="1"/>
          <p:nvPr/>
        </p:nvSpPr>
        <p:spPr>
          <a:xfrm>
            <a:off x="1463040" y="379476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Die Field Study hat den Schwerpunkt verschoben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1"/>
          <p:cNvSpPr txBox="1"/>
          <p:nvPr/>
        </p:nvSpPr>
        <p:spPr>
          <a:xfrm>
            <a:off x="777240" y="4709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90 % der Fehler bei Folgeverordnungen → Verordnungsfall-Prüfung zuerst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1"/>
          <p:cNvSpPr/>
          <p:nvPr/>
        </p:nvSpPr>
        <p:spPr>
          <a:xfrm>
            <a:off x="4343400" y="3611880"/>
            <a:ext cx="3611880" cy="2103120"/>
          </a:xfrm>
          <a:prstGeom prst="roundRect">
            <a:avLst>
              <a:gd name="adj" fmla="val 34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1"/>
          <p:cNvSpPr/>
          <p:nvPr/>
        </p:nvSpPr>
        <p:spPr>
          <a:xfrm>
            <a:off x="4572000" y="3840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5" name="Google Shape;855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9160" y="3977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31"/>
          <p:cNvSpPr txBox="1"/>
          <p:nvPr/>
        </p:nvSpPr>
        <p:spPr>
          <a:xfrm>
            <a:off x="5257800" y="3794760"/>
            <a:ext cx="2514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Zusammenführen braucht Kompatibilität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1"/>
          <p:cNvSpPr txBox="1"/>
          <p:nvPr/>
        </p:nvSpPr>
        <p:spPr>
          <a:xfrm>
            <a:off x="4572000" y="4709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Embedding-Modell und Wissensbasis gehören zusammen; Fallback behalten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1"/>
          <p:cNvSpPr/>
          <p:nvPr/>
        </p:nvSpPr>
        <p:spPr>
          <a:xfrm>
            <a:off x="8138160" y="1325880"/>
            <a:ext cx="3502152" cy="4389120"/>
          </a:xfrm>
          <a:prstGeom prst="roundRect">
            <a:avLst>
              <a:gd name="adj" fmla="val 20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8366760" y="150876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0" name="Google Shape;860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03920" y="16459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1"/>
          <p:cNvSpPr txBox="1"/>
          <p:nvPr/>
        </p:nvSpPr>
        <p:spPr>
          <a:xfrm>
            <a:off x="9052560" y="15087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Für künftige Projekte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1"/>
          <p:cNvSpPr txBox="1"/>
          <p:nvPr/>
        </p:nvSpPr>
        <p:spPr>
          <a:xfrm>
            <a:off x="8366760" y="2240280"/>
            <a:ext cx="31089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Erst Field Study, dann bauen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Früh messen; Testfälle vor dem Tuning trennen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Rechtliche Einordnung an der Zweckbestimmung festmachen – ändert sie sich, neu prüfen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Tool-Auswahl regelmäßig überprüfen: E-Verordnung macht Texterkennung zur Übergangslösung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1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</p:txBody>
      </p:sp>
      <p:sp>
        <p:nvSpPr>
          <p:cNvPr id="864" name="Google Shape;864;p31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Fazit: Fehler vor der Behandlung finden</a:t>
            </a:r>
            <a:endParaRPr sz="2800"/>
          </a:p>
        </p:txBody>
      </p:sp>
      <p:sp>
        <p:nvSpPr>
          <p:cNvPr id="871" name="Google Shape;871;p32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2" name="Google Shape;872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32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2"/>
          <p:cNvSpPr/>
          <p:nvPr/>
        </p:nvSpPr>
        <p:spPr>
          <a:xfrm>
            <a:off x="548640" y="1371600"/>
            <a:ext cx="356616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2"/>
          <p:cNvSpPr txBox="1"/>
          <p:nvPr/>
        </p:nvSpPr>
        <p:spPr>
          <a:xfrm>
            <a:off x="822960" y="150876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96,6 %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2"/>
          <p:cNvSpPr txBox="1"/>
          <p:nvPr/>
        </p:nvSpPr>
        <p:spPr>
          <a:xfrm>
            <a:off x="822960" y="2423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richtige Ampeln (Ziel 98 %)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2"/>
          <p:cNvSpPr txBox="1"/>
          <p:nvPr/>
        </p:nvSpPr>
        <p:spPr>
          <a:xfrm>
            <a:off x="822960" y="28346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gegen höchstens ca. 85 % bei menschlicher Doppelkontrolle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2"/>
          <p:cNvSpPr/>
          <p:nvPr/>
        </p:nvSpPr>
        <p:spPr>
          <a:xfrm>
            <a:off x="4297680" y="1371600"/>
            <a:ext cx="356616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2"/>
          <p:cNvSpPr txBox="1"/>
          <p:nvPr/>
        </p:nvSpPr>
        <p:spPr>
          <a:xfrm>
            <a:off x="4572000" y="150876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vorher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2"/>
          <p:cNvSpPr txBox="1"/>
          <p:nvPr/>
        </p:nvSpPr>
        <p:spPr>
          <a:xfrm>
            <a:off x="4572000" y="2423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statt nachher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2"/>
          <p:cNvSpPr txBox="1"/>
          <p:nvPr/>
        </p:nvSpPr>
        <p:spPr>
          <a:xfrm>
            <a:off x="4572000" y="28346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Fehler fallen vor der Behandlung auf, nicht erst bei der Abrechnung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2"/>
          <p:cNvSpPr/>
          <p:nvPr/>
        </p:nvSpPr>
        <p:spPr>
          <a:xfrm>
            <a:off x="8046720" y="1371600"/>
            <a:ext cx="3566160" cy="2514600"/>
          </a:xfrm>
          <a:prstGeom prst="roundRect">
            <a:avLst>
              <a:gd name="adj" fmla="val 2909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2"/>
          <p:cNvSpPr txBox="1"/>
          <p:nvPr/>
        </p:nvSpPr>
        <p:spPr>
          <a:xfrm>
            <a:off x="8321040" y="150876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≈ 4.300 €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2"/>
          <p:cNvSpPr txBox="1"/>
          <p:nvPr/>
        </p:nvSpPr>
        <p:spPr>
          <a:xfrm>
            <a:off x="8321040" y="24231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 Jahr ab Jahr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2"/>
          <p:cNvSpPr txBox="1"/>
          <p:nvPr/>
        </p:nvSpPr>
        <p:spPr>
          <a:xfrm>
            <a:off x="8321040" y="283464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etwa ½ Minijob an Prüfzeit frei für Patienten und Telefon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2"/>
          <p:cNvSpPr/>
          <p:nvPr/>
        </p:nvSpPr>
        <p:spPr>
          <a:xfrm>
            <a:off x="548640" y="4114800"/>
            <a:ext cx="11091672" cy="1737360"/>
          </a:xfrm>
          <a:prstGeom prst="roundRect">
            <a:avLst>
              <a:gd name="adj" fmla="val 421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2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8" name="Google Shape;888;p3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980" y="45034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32"/>
          <p:cNvSpPr txBox="1"/>
          <p:nvPr/>
        </p:nvSpPr>
        <p:spPr>
          <a:xfrm>
            <a:off x="1645920" y="431596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Unsere Empfehlung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2"/>
          <p:cNvSpPr txBox="1"/>
          <p:nvPr/>
        </p:nvSpPr>
        <p:spPr>
          <a:xfrm>
            <a:off x="1645920" y="4754880"/>
            <a:ext cx="9692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im Parallelbetrieb starten: sechs Wochen mitlaufen lassen, messen, dann entscheiden. Vorher die KBV-Liste und die Verordnungsfall-Prüfung in den Code bringen. Kein Hochrisiko-KI-System, Datenschutz durch Technik eingebaut – die Rezeption behält die Entscheidung und gewinnt Zeit für die Patienten.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2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r>
              <a:rPr lang="de-DE" sz="1000" b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3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mbria"/>
              <a:buNone/>
            </a:pPr>
            <a:r>
              <a:rPr lang="en-US" sz="2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Anhang: Rechtsquellen und Stand</a:t>
            </a:r>
            <a:endParaRPr sz="2800"/>
          </a:p>
        </p:txBody>
      </p:sp>
      <p:sp>
        <p:nvSpPr>
          <p:cNvPr id="898" name="Google Shape;898;p33"/>
          <p:cNvSpPr/>
          <p:nvPr/>
        </p:nvSpPr>
        <p:spPr>
          <a:xfrm>
            <a:off x="10195560" y="457200"/>
            <a:ext cx="14630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9" name="Google Shape;899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0" y="5486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33"/>
          <p:cNvSpPr txBox="1"/>
          <p:nvPr/>
        </p:nvSpPr>
        <p:spPr>
          <a:xfrm>
            <a:off x="10625328" y="457200"/>
            <a:ext cx="9601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lang="en-US" sz="1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Valentin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1" name="Google Shape;901;p33"/>
          <p:cNvGraphicFramePr/>
          <p:nvPr/>
        </p:nvGraphicFramePr>
        <p:xfrm>
          <a:off x="548640" y="1325880"/>
          <a:ext cx="11091675" cy="4169650"/>
        </p:xfrm>
        <a:graphic>
          <a:graphicData uri="http://schemas.openxmlformats.org/drawingml/2006/table">
            <a:tbl>
              <a:tblPr>
                <a:noFill/>
                <a:tableStyleId>{C7B009D5-0476-4BAA-B65B-2964829B4983}</a:tableStyleId>
              </a:tblPr>
              <a:tblGrid>
                <a:gridCol w="329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Quelle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Relevante Stellen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Stand / Hinweis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KI-Verordnung (EU) 2024/1689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3 Nr. 1, 3, 4 · Art. 4 · Art. 5 · Art. 6 Abs. 1–3 · Anhang I, III · Art. 26 · Art. 50 · Art. 53 · Art. 95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4 seit 02.02.2025; Art. 50 seit 02.08.2026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 (EU) 2026/1744 (KI-Omnibus)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4 als Förderpflicht; Hochrisiko Anhang III ab 02.12.2027, Anhang I ab 02.08.2028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ABl. 24.07.2026, in Kraft seit 27.07.2026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Medizinprodukte-VO (EU) 2017/745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2 Nr. 1 (Medizinprodukt)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Leitlinie MDCG 2019-11 Rev. 1 zur Software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DSGVO (EU) 2016/679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Art. 4 Nr. 15 · Art. 5 · Art. 9 Abs. 1–3 · Art. 22 · Art. 25 · Art. 28 · Art. 32 · Art. 35 · Art. 44 ff. · EG 26, 91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BDSG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§ 22 Abs. 1 Nr. 1 lit. 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–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StGB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§ 203 Abs. 1 Nr. 1, Abs. 3, Abs. 4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Fassung seit 2017 (Mitwirkung Dritter)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b="1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Heilmittel-Richtlinie, Heilmittelkatalog (G-BA); Diagnoseliste (KBV)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HeilM-RL § 7, § 12, § 13, § 15, § 16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B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strike="noStrike" cap="none">
                          <a:solidFill>
                            <a:srgbClr val="1B2B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KBV-Diagnoseliste Stand 01.01.2026</a:t>
                      </a:r>
                      <a:endParaRPr sz="12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4000" marR="64000" marT="64000" marB="64000" anchor="ctr">
                    <a:lnL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5E0D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2" name="Google Shape;902;p33"/>
          <p:cNvSpPr txBox="1"/>
          <p:nvPr/>
        </p:nvSpPr>
        <p:spPr>
          <a:xfrm>
            <a:off x="548640" y="603504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Keine Rechtsberatung · Einordnung durch das Team auf Basis der Normtexte und Sekundärquellen (IHK, Kanzleien), Stand 23.10.2026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3"/>
          <p:cNvSpPr txBox="1">
            <a:spLocks noGrp="1"/>
          </p:cNvSpPr>
          <p:nvPr>
            <p:ph type="sldNum" idx="4294967295"/>
          </p:nvPr>
        </p:nvSpPr>
        <p:spPr>
          <a:xfrm>
            <a:off x="10358600" y="6419088"/>
            <a:ext cx="130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Seite </a:t>
            </a:r>
            <a:fld id="{00000000-1234-1234-1234-123412341234}" type="slidenum">
              <a:rPr lang="en-US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r>
              <a:rPr lang="de-DE" sz="1000" b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/ 32</a:t>
            </a:r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ordnungs-Check">
  <a:themeElements>
    <a:clrScheme name="Verordnungs-Check">
      <a:dk1>
        <a:srgbClr val="1B2B30"/>
      </a:dk1>
      <a:lt1>
        <a:srgbClr val="FFFFFF"/>
      </a:lt1>
      <a:dk2>
        <a:srgbClr val="12343B"/>
      </a:dk2>
      <a:lt2>
        <a:srgbClr val="EEF4F3"/>
      </a:lt2>
      <a:accent1>
        <a:srgbClr val="2A9D8F"/>
      </a:accent1>
      <a:accent2>
        <a:srgbClr val="E9C46A"/>
      </a:accent2>
      <a:accent3>
        <a:srgbClr val="E76F51"/>
      </a:accent3>
      <a:accent4>
        <a:srgbClr val="8AB17D"/>
      </a:accent4>
      <a:accent5>
        <a:srgbClr val="5C6B73"/>
      </a:accent5>
      <a:accent6>
        <a:srgbClr val="264653"/>
      </a:accent6>
      <a:hlink>
        <a:srgbClr val="2A9D8F"/>
      </a:hlink>
      <a:folHlink>
        <a:srgbClr val="5C6B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erordnungs-Check">
  <a:themeElements>
    <a:clrScheme name="Verordnungs-Check">
      <a:dk1>
        <a:srgbClr val="1B2B30"/>
      </a:dk1>
      <a:lt1>
        <a:srgbClr val="FFFFFF"/>
      </a:lt1>
      <a:dk2>
        <a:srgbClr val="12343B"/>
      </a:dk2>
      <a:lt2>
        <a:srgbClr val="EEF4F3"/>
      </a:lt2>
      <a:accent1>
        <a:srgbClr val="2A9D8F"/>
      </a:accent1>
      <a:accent2>
        <a:srgbClr val="E9C46A"/>
      </a:accent2>
      <a:accent3>
        <a:srgbClr val="E76F51"/>
      </a:accent3>
      <a:accent4>
        <a:srgbClr val="8AB17D"/>
      </a:accent4>
      <a:accent5>
        <a:srgbClr val="5C6B73"/>
      </a:accent5>
      <a:accent6>
        <a:srgbClr val="264653"/>
      </a:accent6>
      <a:hlink>
        <a:srgbClr val="2A9D8F"/>
      </a:hlink>
      <a:folHlink>
        <a:srgbClr val="5C6B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Microsoft Office PowerPoint</Application>
  <PresentationFormat>Breitbild</PresentationFormat>
  <Paragraphs>830</Paragraphs>
  <Slides>32</Slides>
  <Notes>32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6" baseType="lpstr">
      <vt:lpstr>Arial</vt:lpstr>
      <vt:lpstr>Calibri</vt:lpstr>
      <vt:lpstr>Cambria</vt:lpstr>
      <vt:lpstr>Verordnungs-Check</vt:lpstr>
      <vt:lpstr>Der Verordnungs-Check</vt:lpstr>
      <vt:lpstr>Ablauf: drei Rollen, ein roter Faden</vt:lpstr>
      <vt:lpstr>Das Unternehmen: Physiotherapie im GKV-System</vt:lpstr>
      <vt:lpstr>Field Study: gefragt statt geraten</vt:lpstr>
      <vt:lpstr>Ist-Situation: So prüft die Praxis heute</vt:lpstr>
      <vt:lpstr>Einsatzfelder: erst die Landkarte, dann der Pilot</vt:lpstr>
      <vt:lpstr>Soll: Fehler vor der Behandlung finden</vt:lpstr>
      <vt:lpstr>Annahmen und Einordnung des Business Case</vt:lpstr>
      <vt:lpstr>Business Case: 75 % weniger Prüfzeit nach einem Jahr</vt:lpstr>
      <vt:lpstr>Tool-Vergleich: von den Anforderungen zur Auswahl</vt:lpstr>
      <vt:lpstr>Orchestrierung: n8n und die Alternativen</vt:lpstr>
      <vt:lpstr>Sprachmodell und Embeddings: klein, günstig, einheitlich</vt:lpstr>
      <vt:lpstr>Wissensbasis: warum RAG mit Supabase pgvector</vt:lpstr>
      <vt:lpstr>Drei Regelwerke: Die Suche liefert, der Code rechnet</vt:lpstr>
      <vt:lpstr>Eingabekanal und Gesamtkosten - Total Cost of Ownership (TCO)</vt:lpstr>
      <vt:lpstr>Architektur: Regeln rechnet der Code, Sprache das Modell</vt:lpstr>
      <vt:lpstr>Architekturentscheidung 1: Code oder Sprachmodell?</vt:lpstr>
      <vt:lpstr>Architekturentscheidung 2: Aufbau, Sicherheit, Betrieb</vt:lpstr>
      <vt:lpstr>EU AI Act: warum kein Hochrisiko-System</vt:lpstr>
      <vt:lpstr>EU AI Act: Was für uns trotzdem gilt</vt:lpstr>
      <vt:lpstr>DSGVO und Berufsgeheimnis</vt:lpstr>
      <vt:lpstr>Der Workflow in n8n: vom Formular zur Ampel</vt:lpstr>
      <vt:lpstr>Bauplan: Alle vier Prüfer sind gleich aufgebaut</vt:lpstr>
      <vt:lpstr>Die vier Prüfer: wer prüft was</vt:lpstr>
      <vt:lpstr>Live-Demo: eine Verordnung in 30 Sekunden prüfen</vt:lpstr>
      <vt:lpstr>Testbatterie: 100 synthetische Fälle, sauber getrennt</vt:lpstr>
      <vt:lpstr>Erfolgsmessung: Ergebnis der Testbatterie</vt:lpstr>
      <vt:lpstr>Einsatzplanung: vom Parallelbetrieb zum Regelbetrieb</vt:lpstr>
      <vt:lpstr>Risiken und nächste Schritte</vt:lpstr>
      <vt:lpstr>Reflexion: Was wir gelernt haben</vt:lpstr>
      <vt:lpstr>Fazit: Fehler vor der Behandlung finden</vt:lpstr>
      <vt:lpstr>Anhang: Rechtsquellen und Stand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Thomas Kullmann, Valentin Klamka, Derk Ermler</dc:creator>
  <cp:lastModifiedBy>Thomas Kullmann</cp:lastModifiedBy>
  <cp:revision>11</cp:revision>
  <dcterms:created xsi:type="dcterms:W3CDTF">2026-10-23T08:56:39Z</dcterms:created>
  <dcterms:modified xsi:type="dcterms:W3CDTF">2026-10-29T13:42:44Z</dcterms:modified>
</cp:coreProperties>
</file>